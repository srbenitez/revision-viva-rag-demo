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present our living bibliographic review register. We are Marcelo Carrera, from Universidad U T E, and Segundo Benítez, from U T P L. It keeps a review alive without redoing it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bibliographic review starts ageing the day it is delivered. New studies appear every week. Searching again and removing duplicates by hand almost never happens. There is no time. Let us look at a concrete case. We bring a new batch from Scopus. An article we already had comes back in. Its D O I identifier is written as a web address. If nobody notices, it slips in twice. This ageing is silent and easy to miss. In this way the review loses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living register based on guide ten of the course. A teacher or a researcher uses it. It receives batches of references with title, year and abstract. It delivers three things. A collection without duplicates. A pending list with a relevance suggestion. And a synthesis with checked citations. Everything stays in simple text files that anyone can open and review. The reviewer stays in control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has four steps. First the person sets the question and the inclusion criteria. Second a program deduplicates in code. It compares the normalized D O I and the similar titles. This part is not decided by the model. Third the artificial intelligence suggests including or excluding each study. It always cites the abstract and gives a short reason. Fourth the person reviews and decides. The decision is signed with their name and the date. The model proposes. We decide and we keep a record. Each step leaves a trace that can be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 real test with two sources. We imported twenty references. The program detected two duplicates across sources and flagged them without merging them. Eighteen unique references remained. On those we decided. Nine approved. Four rejected for being off topic. Five stayed pending for lack of an abstract. We also verified one citation against the full text, with its page. We kept the original searches with their date as well. We separate what is checked from what is still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 clear about the limits. This register supports screening. By itself it is not a systematic review. Google Scholar does not provide abstracts. For that reason some references stay without evaluation. We protect the data. We only show public information. The next step is to add a third source and take it to the virtual classroom.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the tool on screen. This is the collection view. The interface is in Spanish. Each row is a reference with its identifier, its title and its status. At the top there is a search box and a status filter. Here the person starts from clear criteria. The viewer changes nothing. It only shows what the register contains. From this same screen you understand what came in and from which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move to the pending list. Here is the heart of the register. For each study the artificial intelligence proposes including or excluding. And it writes a justification that cites the abstract. When a reference has no abstract, the system marks it as insufficient evidence. It does not invent a verdict. Each suggestion also shows the link to the source. The human decision column stays empty. So no hidden study is approved by mistake. It is ready for the person to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history screen. Here stays the dated record of every change. Which batch came in. Which duplicate was discarded. What was approved or rejected and who decided it. Nothing is deleted. A rejection is kept with its reason. In this way it does not reappear without warning. With this history anyone can rebuild the collection step by step. The final synthesis is exported only with the approved studies. Everything is kept in plain, dated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register the review stops ageing out of control. The manual work of cleaning up is reduced. And the decision stays human. You can see the project on our public site. Thank you for joining us. Our colleagues can reuse it in their own work. We are Marcelo Carrera and Segundo Benítez, from U T E and U T P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8961120" y="3931920"/>
            <a:ext cx="4754880" cy="4754880"/>
          </a:xfrm>
          <a:prstGeom prst="ellipse">
            <a:avLst/>
          </a:prstGeom>
          <a:solidFill>
            <a:srgbClr val="FFC629">
              <a:alpha val="12000"/>
            </a:srgbClr>
          </a:solidFill>
          <a:ln/>
        </p:spPr>
      </p:sp>
      <p:sp>
        <p:nvSpPr>
          <p:cNvPr id="3" name="Text 1"/>
          <p:cNvSpPr txBox="1"/>
          <p:nvPr/>
        </p:nvSpPr>
        <p:spPr>
          <a:xfrm>
            <a:off x="731520" y="1463040"/>
            <a:ext cx="10058400" cy="14630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Continuously updated literature review</a:t>
            </a:r>
            <a:endParaRPr lang="en-US" sz="4000" dirty="0"/>
          </a:p>
        </p:txBody>
      </p:sp>
      <p:sp>
        <p:nvSpPr>
          <p:cNvPr id="4" name="Text 2"/>
          <p:cNvSpPr txBox="1"/>
          <p:nvPr/>
        </p:nvSpPr>
        <p:spPr>
          <a:xfrm>
            <a:off x="731520" y="3017520"/>
            <a:ext cx="9601200" cy="548640"/>
          </a:xfrm>
          <a:prstGeom prst="rect">
            <a:avLst/>
          </a:prstGeom>
          <a:noFill/>
          <a:ln/>
        </p:spPr>
        <p:txBody>
          <a:bodyPr wrap="square" lIns="0" tIns="0" rIns="0" bIns="0" rtlCol="0" anchor="ctr"/>
          <a:lstStyle/>
          <a:p>
            <a:pPr indent="0" marL="0">
              <a:buNone/>
            </a:pPr>
            <a:r>
              <a:rPr lang="en-US" sz="2000" i="1" dirty="0">
                <a:solidFill>
                  <a:srgbClr val="FFC629"/>
                </a:solidFill>
                <a:latin typeface="Calibri" pitchFamily="34" charset="0"/>
                <a:ea typeface="Calibri" pitchFamily="34" charset="-122"/>
                <a:cs typeface="Calibri" pitchFamily="34" charset="-120"/>
              </a:rPr>
              <a:t>It keeps a review alive without redoing it by hand</a:t>
            </a:r>
            <a:endParaRPr lang="en-US" sz="2000" dirty="0"/>
          </a:p>
        </p:txBody>
      </p:sp>
      <p:sp>
        <p:nvSpPr>
          <p:cNvPr id="5" name="Text 3"/>
          <p:cNvSpPr txBox="1"/>
          <p:nvPr/>
        </p:nvSpPr>
        <p:spPr>
          <a:xfrm>
            <a:off x="731520" y="4114800"/>
            <a:ext cx="9144000" cy="1280160"/>
          </a:xfrm>
          <a:prstGeom prst="rect">
            <a:avLst/>
          </a:prstGeom>
          <a:noFill/>
          <a:ln/>
        </p:spPr>
        <p:txBody>
          <a:bodyPr wrap="square" lIns="0" tIns="0" rIns="0" bIns="0" rtlCol="0" anchor="ctr"/>
          <a:lstStyle/>
          <a:p>
            <a:pPr indent="0" marL="0">
              <a:lnSpc>
                <a:spcPct val="120000"/>
              </a:lnSpc>
              <a:buNone/>
            </a:pPr>
            <a:r>
              <a:rPr lang="en-US" sz="1800" dirty="0">
                <a:solidFill>
                  <a:srgbClr val="FFFFFF"/>
                </a:solidFill>
                <a:latin typeface="Calibri" pitchFamily="34" charset="0"/>
                <a:ea typeface="Calibri" pitchFamily="34" charset="-122"/>
                <a:cs typeface="Calibri" pitchFamily="34" charset="-120"/>
              </a:rPr>
              <a:t>Marcelo Carrera  ·  Universidad UTE</a:t>
            </a:r>
            <a:endParaRPr lang="en-US" sz="1800" dirty="0"/>
          </a:p>
          <a:p>
            <a:pPr indent="0" marL="0">
              <a:lnSpc>
                <a:spcPct val="120000"/>
              </a:lnSpc>
              <a:buNone/>
            </a:pPr>
            <a:r>
              <a:rPr lang="en-US" sz="1800" dirty="0">
                <a:solidFill>
                  <a:srgbClr val="FFFFFF"/>
                </a:solidFill>
                <a:latin typeface="Calibri" pitchFamily="34" charset="0"/>
                <a:ea typeface="Calibri" pitchFamily="34" charset="-122"/>
                <a:cs typeface="Calibri" pitchFamily="34" charset="-120"/>
              </a:rPr>
              <a:t>Segundo Benítez  ·  UTPL</a:t>
            </a:r>
            <a:endParaRPr lang="en-US" sz="1800" dirty="0"/>
          </a:p>
          <a:p>
            <a:pPr indent="0" marL="0">
              <a:lnSpc>
                <a:spcPct val="120000"/>
              </a:lnSpc>
              <a:buNone/>
            </a:pPr>
            <a:r>
              <a:rPr lang="en-US" sz="1800" dirty="0">
                <a:solidFill>
                  <a:srgbClr val="AEB4C7"/>
                </a:solidFill>
                <a:latin typeface="Calibri" pitchFamily="34" charset="0"/>
                <a:ea typeface="Calibri" pitchFamily="34" charset="-122"/>
                <a:cs typeface="Calibri" pitchFamily="34" charset="-120"/>
              </a:rPr>
              <a:t>Guide 10 · Vibe Coding CEDIA 2026</a:t>
            </a:r>
            <a:endParaRPr lang="en-US" sz="1800" dirty="0"/>
          </a:p>
        </p:txBody>
      </p:sp>
      <p:sp>
        <p:nvSpPr>
          <p:cNvPr id="6" name="Text 4"/>
          <p:cNvSpPr txBox="1"/>
          <p:nvPr/>
        </p:nvSpPr>
        <p:spPr>
          <a:xfrm>
            <a:off x="731520" y="6126480"/>
            <a:ext cx="10515600" cy="365760"/>
          </a:xfrm>
          <a:prstGeom prst="rect">
            <a:avLst/>
          </a:prstGeom>
          <a:noFill/>
          <a:ln/>
        </p:spPr>
        <p:txBody>
          <a:bodyPr wrap="square" lIns="0" tIns="0" rIns="0" bIns="0" rtlCol="0" anchor="ctr"/>
          <a:lstStyle/>
          <a:p>
            <a:pPr indent="0" marL="0">
              <a:buNone/>
            </a:pPr>
            <a:r>
              <a:rPr lang="en-US" sz="1200" dirty="0">
                <a:solidFill>
                  <a:srgbClr val="AEB4C7"/>
                </a:solidFill>
                <a:latin typeface="Calibri" pitchFamily="34" charset="0"/>
                <a:ea typeface="Calibri" pitchFamily="34" charset="-122"/>
                <a:cs typeface="Calibri" pitchFamily="34" charset="-120"/>
              </a:rPr>
              <a:t>Narration generated with A I voice (ElevenLabs) and reviewed by the authors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The problem</a:t>
            </a:r>
            <a:endParaRPr lang="en-US" sz="3200" dirty="0"/>
          </a:p>
        </p:txBody>
      </p:sp>
      <p:sp>
        <p:nvSpPr>
          <p:cNvPr id="3" name="Text 1"/>
          <p:cNvSpPr txBox="1"/>
          <p:nvPr/>
        </p:nvSpPr>
        <p:spPr>
          <a:xfrm>
            <a:off x="640080" y="1463040"/>
            <a:ext cx="6400800" cy="2011680"/>
          </a:xfrm>
          <a:prstGeom prst="rect">
            <a:avLst/>
          </a:prstGeom>
          <a:noFill/>
          <a:ln/>
        </p:spPr>
        <p:txBody>
          <a:bodyPr wrap="square" lIns="0" tIns="0" rIns="0" bIns="0" rtlCol="0" anchor="t"/>
          <a:lstStyle/>
          <a:p>
            <a:pPr indent="0" marL="0">
              <a:lnSpc>
                <a:spcPct val="115000"/>
              </a:lnSpc>
              <a:buNone/>
            </a:pPr>
            <a:r>
              <a:rPr lang="en-US" sz="2200" dirty="0">
                <a:solidFill>
                  <a:srgbClr val="1C1A17"/>
                </a:solidFill>
                <a:latin typeface="Calibri" pitchFamily="34" charset="0"/>
                <a:ea typeface="Calibri" pitchFamily="34" charset="-122"/>
                <a:cs typeface="Calibri" pitchFamily="34" charset="-120"/>
              </a:rPr>
              <a:t>A review starts ageing the day it is delivered. Searching and cleaning by hand rarely happens.</a:t>
            </a:r>
            <a:endParaRPr lang="en-US" sz="2200" dirty="0"/>
          </a:p>
        </p:txBody>
      </p:sp>
      <p:sp>
        <p:nvSpPr>
          <p:cNvPr id="4" name="Shape 2"/>
          <p:cNvSpPr/>
          <p:nvPr/>
        </p:nvSpPr>
        <p:spPr>
          <a:xfrm>
            <a:off x="7406640" y="1554480"/>
            <a:ext cx="4114800" cy="3291840"/>
          </a:xfrm>
          <a:prstGeom prst="roundRect">
            <a:avLst>
              <a:gd name="adj" fmla="val 3333"/>
            </a:avLst>
          </a:prstGeom>
          <a:solidFill>
            <a:srgbClr val="EEEFF8"/>
          </a:solidFill>
          <a:ln/>
        </p:spPr>
      </p:sp>
      <p:sp>
        <p:nvSpPr>
          <p:cNvPr id="5" name="Text 3"/>
          <p:cNvSpPr txBox="1"/>
          <p:nvPr/>
        </p:nvSpPr>
        <p:spPr>
          <a:xfrm>
            <a:off x="7406640" y="1828800"/>
            <a:ext cx="4114800" cy="1280160"/>
          </a:xfrm>
          <a:prstGeom prst="rect">
            <a:avLst/>
          </a:prstGeom>
          <a:noFill/>
          <a:ln/>
        </p:spPr>
        <p:txBody>
          <a:bodyPr wrap="square" lIns="0" tIns="0" rIns="0" bIns="0" rtlCol="0" anchor="ctr"/>
          <a:lstStyle/>
          <a:p>
            <a:pPr algn="ctr" indent="0" marL="0">
              <a:buNone/>
            </a:pPr>
            <a:r>
              <a:rPr lang="en-US" sz="6600" b="1" dirty="0">
                <a:solidFill>
                  <a:srgbClr val="5B4BDB"/>
                </a:solidFill>
                <a:latin typeface="Georgia" pitchFamily="34" charset="0"/>
                <a:ea typeface="Georgia" pitchFamily="34" charset="-122"/>
                <a:cs typeface="Georgia" pitchFamily="34" charset="-120"/>
              </a:rPr>
              <a:t>2×</a:t>
            </a:r>
            <a:endParaRPr lang="en-US" sz="6600" dirty="0"/>
          </a:p>
        </p:txBody>
      </p:sp>
      <p:sp>
        <p:nvSpPr>
          <p:cNvPr id="6" name="Text 4"/>
          <p:cNvSpPr txBox="1"/>
          <p:nvPr/>
        </p:nvSpPr>
        <p:spPr>
          <a:xfrm>
            <a:off x="7680960" y="3200400"/>
            <a:ext cx="3566160" cy="1463040"/>
          </a:xfrm>
          <a:prstGeom prst="rect">
            <a:avLst/>
          </a:prstGeom>
          <a:noFill/>
          <a:ln/>
        </p:spPr>
        <p:txBody>
          <a:bodyPr wrap="square" lIns="0" tIns="0" rIns="0" bIns="0" rtlCol="0" anchor="t"/>
          <a:lstStyle/>
          <a:p>
            <a:pPr algn="ctr" indent="0" marL="0">
              <a:lnSpc>
                <a:spcPct val="110000"/>
              </a:lnSpc>
              <a:buNone/>
            </a:pPr>
            <a:r>
              <a:rPr lang="en-US" sz="1800" dirty="0">
                <a:solidFill>
                  <a:srgbClr val="1C1A17"/>
                </a:solidFill>
                <a:latin typeface="Calibri" pitchFamily="34" charset="0"/>
                <a:ea typeface="Calibri" pitchFamily="34" charset="-122"/>
                <a:cs typeface="Calibri" pitchFamily="34" charset="-120"/>
              </a:rPr>
              <a:t>The same article slips in twice when the D O I comes as a web address</a:t>
            </a:r>
            <a:endParaRPr lang="en-US" sz="1800" dirty="0"/>
          </a:p>
        </p:txBody>
      </p:sp>
      <p:sp>
        <p:nvSpPr>
          <p:cNvPr id="7" name="Text 5"/>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8" name="Text 6"/>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The tool</a:t>
            </a:r>
            <a:endParaRPr lang="en-US" sz="3200" dirty="0"/>
          </a:p>
        </p:txBody>
      </p:sp>
      <p:sp>
        <p:nvSpPr>
          <p:cNvPr id="3" name="Shape 1"/>
          <p:cNvSpPr/>
          <p:nvPr/>
        </p:nvSpPr>
        <p:spPr>
          <a:xfrm>
            <a:off x="640080" y="1920240"/>
            <a:ext cx="3429000" cy="3108960"/>
          </a:xfrm>
          <a:prstGeom prst="roundRect">
            <a:avLst>
              <a:gd name="adj" fmla="val 3529"/>
            </a:avLst>
          </a:prstGeom>
          <a:solidFill>
            <a:srgbClr val="EEEFF8"/>
          </a:solidFill>
          <a:ln/>
        </p:spPr>
      </p:sp>
      <p:sp>
        <p:nvSpPr>
          <p:cNvPr id="4" name="Text 2"/>
          <p:cNvSpPr txBox="1"/>
          <p:nvPr/>
        </p:nvSpPr>
        <p:spPr>
          <a:xfrm>
            <a:off x="914400" y="2194560"/>
            <a:ext cx="2880360" cy="548640"/>
          </a:xfrm>
          <a:prstGeom prst="rect">
            <a:avLst/>
          </a:prstGeom>
          <a:noFill/>
          <a:ln/>
        </p:spPr>
        <p:txBody>
          <a:bodyPr wrap="square" lIns="0" tIns="0" rIns="0" bIns="0" rtlCol="0" anchor="ctr"/>
          <a:lstStyle/>
          <a:p>
            <a:pPr indent="0" marL="0">
              <a:buNone/>
            </a:pPr>
            <a:r>
              <a:rPr lang="en-US" sz="2200" b="1" dirty="0">
                <a:solidFill>
                  <a:srgbClr val="5B4BDB"/>
                </a:solidFill>
                <a:latin typeface="Georgia" pitchFamily="34" charset="0"/>
                <a:ea typeface="Georgia" pitchFamily="34" charset="-122"/>
                <a:cs typeface="Georgia" pitchFamily="34" charset="-120"/>
              </a:rPr>
              <a:t>Receive</a:t>
            </a:r>
            <a:endParaRPr lang="en-US" sz="2200" dirty="0"/>
          </a:p>
        </p:txBody>
      </p:sp>
      <p:sp>
        <p:nvSpPr>
          <p:cNvPr id="5" name="Text 3"/>
          <p:cNvSpPr txBox="1"/>
          <p:nvPr/>
        </p:nvSpPr>
        <p:spPr>
          <a:xfrm>
            <a:off x="914400"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Batches of references with title, year and abstract</a:t>
            </a:r>
            <a:endParaRPr lang="en-US" sz="1800" dirty="0"/>
          </a:p>
        </p:txBody>
      </p:sp>
      <p:sp>
        <p:nvSpPr>
          <p:cNvPr id="6" name="Shape 4"/>
          <p:cNvSpPr/>
          <p:nvPr/>
        </p:nvSpPr>
        <p:spPr>
          <a:xfrm>
            <a:off x="4370832" y="1920240"/>
            <a:ext cx="3429000" cy="3108960"/>
          </a:xfrm>
          <a:prstGeom prst="roundRect">
            <a:avLst>
              <a:gd name="adj" fmla="val 3529"/>
            </a:avLst>
          </a:prstGeom>
          <a:solidFill>
            <a:srgbClr val="E6F2F0"/>
          </a:solidFill>
          <a:ln/>
        </p:spPr>
      </p:sp>
      <p:sp>
        <p:nvSpPr>
          <p:cNvPr id="7" name="Text 5"/>
          <p:cNvSpPr txBox="1"/>
          <p:nvPr/>
        </p:nvSpPr>
        <p:spPr>
          <a:xfrm>
            <a:off x="4645152" y="2194560"/>
            <a:ext cx="2880360" cy="548640"/>
          </a:xfrm>
          <a:prstGeom prst="rect">
            <a:avLst/>
          </a:prstGeom>
          <a:noFill/>
          <a:ln/>
        </p:spPr>
        <p:txBody>
          <a:bodyPr wrap="square" lIns="0" tIns="0" rIns="0" bIns="0" rtlCol="0" anchor="ctr"/>
          <a:lstStyle/>
          <a:p>
            <a:pPr indent="0" marL="0">
              <a:buNone/>
            </a:pPr>
            <a:r>
              <a:rPr lang="en-US" sz="2200" b="1" dirty="0">
                <a:solidFill>
                  <a:srgbClr val="0D9488"/>
                </a:solidFill>
                <a:latin typeface="Georgia" pitchFamily="34" charset="0"/>
                <a:ea typeface="Georgia" pitchFamily="34" charset="-122"/>
                <a:cs typeface="Georgia" pitchFamily="34" charset="-120"/>
              </a:rPr>
              <a:t>Process</a:t>
            </a:r>
            <a:endParaRPr lang="en-US" sz="2200" dirty="0"/>
          </a:p>
        </p:txBody>
      </p:sp>
      <p:sp>
        <p:nvSpPr>
          <p:cNvPr id="8" name="Text 6"/>
          <p:cNvSpPr txBox="1"/>
          <p:nvPr/>
        </p:nvSpPr>
        <p:spPr>
          <a:xfrm>
            <a:off x="4645152"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Deduplicates in code and the AI suggests relevance</a:t>
            </a:r>
            <a:endParaRPr lang="en-US" sz="1800" dirty="0"/>
          </a:p>
        </p:txBody>
      </p:sp>
      <p:sp>
        <p:nvSpPr>
          <p:cNvPr id="9" name="Shape 7"/>
          <p:cNvSpPr/>
          <p:nvPr/>
        </p:nvSpPr>
        <p:spPr>
          <a:xfrm>
            <a:off x="8101584" y="1920240"/>
            <a:ext cx="3429000" cy="3108960"/>
          </a:xfrm>
          <a:prstGeom prst="roundRect">
            <a:avLst>
              <a:gd name="adj" fmla="val 3529"/>
            </a:avLst>
          </a:prstGeom>
          <a:solidFill>
            <a:srgbClr val="EEEFF8"/>
          </a:solidFill>
          <a:ln/>
        </p:spPr>
      </p:sp>
      <p:sp>
        <p:nvSpPr>
          <p:cNvPr id="10" name="Text 8"/>
          <p:cNvSpPr txBox="1"/>
          <p:nvPr/>
        </p:nvSpPr>
        <p:spPr>
          <a:xfrm>
            <a:off x="8375904" y="2194560"/>
            <a:ext cx="2880360" cy="548640"/>
          </a:xfrm>
          <a:prstGeom prst="rect">
            <a:avLst/>
          </a:prstGeom>
          <a:noFill/>
          <a:ln/>
        </p:spPr>
        <p:txBody>
          <a:bodyPr wrap="square" lIns="0" tIns="0" rIns="0" bIns="0" rtlCol="0" anchor="ctr"/>
          <a:lstStyle/>
          <a:p>
            <a:pPr indent="0" marL="0">
              <a:buNone/>
            </a:pPr>
            <a:r>
              <a:rPr lang="en-US" sz="2200" b="1" dirty="0">
                <a:solidFill>
                  <a:srgbClr val="5B4BDB"/>
                </a:solidFill>
                <a:latin typeface="Georgia" pitchFamily="34" charset="0"/>
                <a:ea typeface="Georgia" pitchFamily="34" charset="-122"/>
                <a:cs typeface="Georgia" pitchFamily="34" charset="-120"/>
              </a:rPr>
              <a:t>Deliver</a:t>
            </a:r>
            <a:endParaRPr lang="en-US" sz="2200" dirty="0"/>
          </a:p>
        </p:txBody>
      </p:sp>
      <p:sp>
        <p:nvSpPr>
          <p:cNvPr id="11" name="Text 9"/>
          <p:cNvSpPr txBox="1"/>
          <p:nvPr/>
        </p:nvSpPr>
        <p:spPr>
          <a:xfrm>
            <a:off x="8375904"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Collection, pending list and a checked synthesis</a:t>
            </a:r>
            <a:endParaRPr lang="en-US" sz="1800" dirty="0"/>
          </a:p>
        </p:txBody>
      </p:sp>
      <p:sp>
        <p:nvSpPr>
          <p:cNvPr id="12" name="Text 10"/>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13" name="Text 11"/>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How it works</a:t>
            </a:r>
            <a:endParaRPr lang="en-US" sz="3200" dirty="0"/>
          </a:p>
        </p:txBody>
      </p:sp>
      <p:sp>
        <p:nvSpPr>
          <p:cNvPr id="3" name="Shape 1"/>
          <p:cNvSpPr/>
          <p:nvPr/>
        </p:nvSpPr>
        <p:spPr>
          <a:xfrm>
            <a:off x="640080" y="2103120"/>
            <a:ext cx="2514600" cy="2834640"/>
          </a:xfrm>
          <a:prstGeom prst="roundRect">
            <a:avLst>
              <a:gd name="adj" fmla="val 4364"/>
            </a:avLst>
          </a:prstGeom>
          <a:solidFill>
            <a:srgbClr val="EEEFF8"/>
          </a:solidFill>
          <a:ln/>
        </p:spPr>
      </p:sp>
      <p:sp>
        <p:nvSpPr>
          <p:cNvPr id="4" name="Shape 2"/>
          <p:cNvSpPr/>
          <p:nvPr/>
        </p:nvSpPr>
        <p:spPr>
          <a:xfrm>
            <a:off x="914400" y="2331720"/>
            <a:ext cx="685800" cy="685800"/>
          </a:xfrm>
          <a:prstGeom prst="ellipse">
            <a:avLst/>
          </a:prstGeom>
          <a:solidFill>
            <a:srgbClr val="5B4BDB"/>
          </a:solidFill>
          <a:ln/>
        </p:spPr>
      </p:sp>
      <p:sp>
        <p:nvSpPr>
          <p:cNvPr id="5" name="Text 3"/>
          <p:cNvSpPr txBox="1"/>
          <p:nvPr/>
        </p:nvSpPr>
        <p:spPr>
          <a:xfrm>
            <a:off x="91440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6" name="Text 4"/>
          <p:cNvSpPr txBox="1"/>
          <p:nvPr/>
        </p:nvSpPr>
        <p:spPr>
          <a:xfrm>
            <a:off x="896112" y="3200400"/>
            <a:ext cx="2057400" cy="548640"/>
          </a:xfrm>
          <a:prstGeom prst="rect">
            <a:avLst/>
          </a:prstGeom>
          <a:noFill/>
          <a:ln/>
        </p:spPr>
        <p:txBody>
          <a:bodyPr wrap="square" lIns="0" tIns="0" rIns="0" bIns="0" rtlCol="0" anchor="ctr"/>
          <a:lstStyle/>
          <a:p>
            <a:pPr indent="0" marL="0">
              <a:buNone/>
            </a:pPr>
            <a:r>
              <a:rPr lang="en-US" sz="1800" b="1" dirty="0">
                <a:solidFill>
                  <a:srgbClr val="1C1A17"/>
                </a:solidFill>
                <a:latin typeface="Georgia" pitchFamily="34" charset="0"/>
                <a:ea typeface="Georgia" pitchFamily="34" charset="-122"/>
                <a:cs typeface="Georgia" pitchFamily="34" charset="-120"/>
              </a:rPr>
              <a:t>Criteria</a:t>
            </a:r>
            <a:endParaRPr lang="en-US" sz="1800" dirty="0"/>
          </a:p>
        </p:txBody>
      </p:sp>
      <p:sp>
        <p:nvSpPr>
          <p:cNvPr id="7" name="Text 5"/>
          <p:cNvSpPr txBox="1"/>
          <p:nvPr/>
        </p:nvSpPr>
        <p:spPr>
          <a:xfrm>
            <a:off x="896112" y="3749040"/>
            <a:ext cx="210312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The person sets the question and criteria</a:t>
            </a:r>
            <a:endParaRPr lang="en-US" sz="1600" dirty="0"/>
          </a:p>
        </p:txBody>
      </p:sp>
      <p:sp>
        <p:nvSpPr>
          <p:cNvPr id="8" name="Shape 6"/>
          <p:cNvSpPr/>
          <p:nvPr/>
        </p:nvSpPr>
        <p:spPr>
          <a:xfrm>
            <a:off x="3429000" y="2103120"/>
            <a:ext cx="2514600" cy="2834640"/>
          </a:xfrm>
          <a:prstGeom prst="roundRect">
            <a:avLst>
              <a:gd name="adj" fmla="val 4364"/>
            </a:avLst>
          </a:prstGeom>
          <a:solidFill>
            <a:srgbClr val="EEEFF8"/>
          </a:solidFill>
          <a:ln/>
        </p:spPr>
      </p:sp>
      <p:sp>
        <p:nvSpPr>
          <p:cNvPr id="9" name="Shape 7"/>
          <p:cNvSpPr/>
          <p:nvPr/>
        </p:nvSpPr>
        <p:spPr>
          <a:xfrm>
            <a:off x="3703320" y="2331720"/>
            <a:ext cx="685800" cy="685800"/>
          </a:xfrm>
          <a:prstGeom prst="ellipse">
            <a:avLst/>
          </a:prstGeom>
          <a:solidFill>
            <a:srgbClr val="5B4BDB"/>
          </a:solidFill>
          <a:ln/>
        </p:spPr>
      </p:sp>
      <p:sp>
        <p:nvSpPr>
          <p:cNvPr id="10" name="Text 8"/>
          <p:cNvSpPr txBox="1"/>
          <p:nvPr/>
        </p:nvSpPr>
        <p:spPr>
          <a:xfrm>
            <a:off x="370332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1" name="Text 9"/>
          <p:cNvSpPr txBox="1"/>
          <p:nvPr/>
        </p:nvSpPr>
        <p:spPr>
          <a:xfrm>
            <a:off x="3685032" y="3200400"/>
            <a:ext cx="2057400" cy="548640"/>
          </a:xfrm>
          <a:prstGeom prst="rect">
            <a:avLst/>
          </a:prstGeom>
          <a:noFill/>
          <a:ln/>
        </p:spPr>
        <p:txBody>
          <a:bodyPr wrap="square" lIns="0" tIns="0" rIns="0" bIns="0" rtlCol="0" anchor="ctr"/>
          <a:lstStyle/>
          <a:p>
            <a:pPr indent="0" marL="0">
              <a:buNone/>
            </a:pPr>
            <a:r>
              <a:rPr lang="en-US" sz="1800" b="1" dirty="0">
                <a:solidFill>
                  <a:srgbClr val="1C1A17"/>
                </a:solidFill>
                <a:latin typeface="Georgia" pitchFamily="34" charset="0"/>
                <a:ea typeface="Georgia" pitchFamily="34" charset="-122"/>
                <a:cs typeface="Georgia" pitchFamily="34" charset="-120"/>
              </a:rPr>
              <a:t>Deduplicate</a:t>
            </a:r>
            <a:endParaRPr lang="en-US" sz="1800" dirty="0"/>
          </a:p>
        </p:txBody>
      </p:sp>
      <p:sp>
        <p:nvSpPr>
          <p:cNvPr id="12" name="Text 10"/>
          <p:cNvSpPr txBox="1"/>
          <p:nvPr/>
        </p:nvSpPr>
        <p:spPr>
          <a:xfrm>
            <a:off x="3685032" y="3749040"/>
            <a:ext cx="210312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A program compares in code, not the model</a:t>
            </a:r>
            <a:endParaRPr lang="en-US" sz="1600" dirty="0"/>
          </a:p>
        </p:txBody>
      </p:sp>
      <p:sp>
        <p:nvSpPr>
          <p:cNvPr id="13" name="Shape 11"/>
          <p:cNvSpPr/>
          <p:nvPr/>
        </p:nvSpPr>
        <p:spPr>
          <a:xfrm>
            <a:off x="6217920" y="2103120"/>
            <a:ext cx="2514600" cy="2834640"/>
          </a:xfrm>
          <a:prstGeom prst="roundRect">
            <a:avLst>
              <a:gd name="adj" fmla="val 4364"/>
            </a:avLst>
          </a:prstGeom>
          <a:solidFill>
            <a:srgbClr val="EEEFF8"/>
          </a:solidFill>
          <a:ln/>
        </p:spPr>
      </p:sp>
      <p:sp>
        <p:nvSpPr>
          <p:cNvPr id="14" name="Shape 12"/>
          <p:cNvSpPr/>
          <p:nvPr/>
        </p:nvSpPr>
        <p:spPr>
          <a:xfrm>
            <a:off x="6492240" y="2331720"/>
            <a:ext cx="685800" cy="685800"/>
          </a:xfrm>
          <a:prstGeom prst="ellipse">
            <a:avLst/>
          </a:prstGeom>
          <a:solidFill>
            <a:srgbClr val="5B4BDB"/>
          </a:solidFill>
          <a:ln/>
        </p:spPr>
      </p:sp>
      <p:sp>
        <p:nvSpPr>
          <p:cNvPr id="15" name="Text 13"/>
          <p:cNvSpPr txBox="1"/>
          <p:nvPr/>
        </p:nvSpPr>
        <p:spPr>
          <a:xfrm>
            <a:off x="649224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16" name="Text 14"/>
          <p:cNvSpPr txBox="1"/>
          <p:nvPr/>
        </p:nvSpPr>
        <p:spPr>
          <a:xfrm>
            <a:off x="6473952" y="3200400"/>
            <a:ext cx="2057400" cy="548640"/>
          </a:xfrm>
          <a:prstGeom prst="rect">
            <a:avLst/>
          </a:prstGeom>
          <a:noFill/>
          <a:ln/>
        </p:spPr>
        <p:txBody>
          <a:bodyPr wrap="square" lIns="0" tIns="0" rIns="0" bIns="0" rtlCol="0" anchor="ctr"/>
          <a:lstStyle/>
          <a:p>
            <a:pPr indent="0" marL="0">
              <a:buNone/>
            </a:pPr>
            <a:r>
              <a:rPr lang="en-US" sz="1800" b="1" dirty="0">
                <a:solidFill>
                  <a:srgbClr val="1C1A17"/>
                </a:solidFill>
                <a:latin typeface="Georgia" pitchFamily="34" charset="0"/>
                <a:ea typeface="Georgia" pitchFamily="34" charset="-122"/>
                <a:cs typeface="Georgia" pitchFamily="34" charset="-120"/>
              </a:rPr>
              <a:t>The AI suggests</a:t>
            </a:r>
            <a:endParaRPr lang="en-US" sz="1800" dirty="0"/>
          </a:p>
        </p:txBody>
      </p:sp>
      <p:sp>
        <p:nvSpPr>
          <p:cNvPr id="17" name="Text 15"/>
          <p:cNvSpPr txBox="1"/>
          <p:nvPr/>
        </p:nvSpPr>
        <p:spPr>
          <a:xfrm>
            <a:off x="6473952" y="3749040"/>
            <a:ext cx="210312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Proposes include or exclude and cites the abstract</a:t>
            </a:r>
            <a:endParaRPr lang="en-US" sz="1600" dirty="0"/>
          </a:p>
        </p:txBody>
      </p:sp>
      <p:sp>
        <p:nvSpPr>
          <p:cNvPr id="18" name="Shape 16"/>
          <p:cNvSpPr/>
          <p:nvPr/>
        </p:nvSpPr>
        <p:spPr>
          <a:xfrm>
            <a:off x="9006840" y="2103120"/>
            <a:ext cx="2514600" cy="2834640"/>
          </a:xfrm>
          <a:prstGeom prst="roundRect">
            <a:avLst>
              <a:gd name="adj" fmla="val 4364"/>
            </a:avLst>
          </a:prstGeom>
          <a:solidFill>
            <a:srgbClr val="EEEFF8"/>
          </a:solidFill>
          <a:ln/>
        </p:spPr>
      </p:sp>
      <p:sp>
        <p:nvSpPr>
          <p:cNvPr id="19" name="Shape 17"/>
          <p:cNvSpPr/>
          <p:nvPr/>
        </p:nvSpPr>
        <p:spPr>
          <a:xfrm>
            <a:off x="9281160" y="2331720"/>
            <a:ext cx="685800" cy="685800"/>
          </a:xfrm>
          <a:prstGeom prst="ellipse">
            <a:avLst/>
          </a:prstGeom>
          <a:solidFill>
            <a:srgbClr val="0D9488"/>
          </a:solidFill>
          <a:ln/>
        </p:spPr>
      </p:sp>
      <p:sp>
        <p:nvSpPr>
          <p:cNvPr id="20" name="Text 18"/>
          <p:cNvSpPr txBox="1"/>
          <p:nvPr/>
        </p:nvSpPr>
        <p:spPr>
          <a:xfrm>
            <a:off x="928116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1" name="Text 19"/>
          <p:cNvSpPr txBox="1"/>
          <p:nvPr/>
        </p:nvSpPr>
        <p:spPr>
          <a:xfrm>
            <a:off x="9262872" y="3200400"/>
            <a:ext cx="2057400" cy="548640"/>
          </a:xfrm>
          <a:prstGeom prst="rect">
            <a:avLst/>
          </a:prstGeom>
          <a:noFill/>
          <a:ln/>
        </p:spPr>
        <p:txBody>
          <a:bodyPr wrap="square" lIns="0" tIns="0" rIns="0" bIns="0" rtlCol="0" anchor="ctr"/>
          <a:lstStyle/>
          <a:p>
            <a:pPr indent="0" marL="0">
              <a:buNone/>
            </a:pPr>
            <a:r>
              <a:rPr lang="en-US" sz="1800" b="1" dirty="0">
                <a:solidFill>
                  <a:srgbClr val="1C1A17"/>
                </a:solidFill>
                <a:latin typeface="Georgia" pitchFamily="34" charset="0"/>
                <a:ea typeface="Georgia" pitchFamily="34" charset="-122"/>
                <a:cs typeface="Georgia" pitchFamily="34" charset="-120"/>
              </a:rPr>
              <a:t>Decide</a:t>
            </a:r>
            <a:endParaRPr lang="en-US" sz="1800" dirty="0"/>
          </a:p>
        </p:txBody>
      </p:sp>
      <p:sp>
        <p:nvSpPr>
          <p:cNvPr id="22" name="Text 20"/>
          <p:cNvSpPr txBox="1"/>
          <p:nvPr/>
        </p:nvSpPr>
        <p:spPr>
          <a:xfrm>
            <a:off x="9262872" y="3749040"/>
            <a:ext cx="2103120" cy="1097280"/>
          </a:xfrm>
          <a:prstGeom prst="rect">
            <a:avLst/>
          </a:prstGeom>
          <a:noFill/>
          <a:ln/>
        </p:spPr>
        <p:txBody>
          <a:bodyPr wrap="square" lIns="0" tIns="0" rIns="0" bIns="0" rtlCol="0" anchor="t"/>
          <a:lstStyle/>
          <a:p>
            <a:pPr indent="0" marL="0">
              <a:lnSpc>
                <a:spcPct val="110000"/>
              </a:lnSpc>
              <a:buNone/>
            </a:pPr>
            <a:r>
              <a:rPr lang="en-US" sz="1600" dirty="0">
                <a:solidFill>
                  <a:srgbClr val="1C1A17"/>
                </a:solidFill>
                <a:latin typeface="Calibri" pitchFamily="34" charset="0"/>
                <a:ea typeface="Calibri" pitchFamily="34" charset="-122"/>
                <a:cs typeface="Calibri" pitchFamily="34" charset="-120"/>
              </a:rPr>
              <a:t>The person approves and signs the decision</a:t>
            </a:r>
            <a:endParaRPr lang="en-US" sz="1600" dirty="0"/>
          </a:p>
        </p:txBody>
      </p:sp>
      <p:sp>
        <p:nvSpPr>
          <p:cNvPr id="23" name="Text 21"/>
          <p:cNvSpPr txBox="1"/>
          <p:nvPr/>
        </p:nvSpPr>
        <p:spPr>
          <a:xfrm>
            <a:off x="640080" y="5212080"/>
            <a:ext cx="10881360" cy="457200"/>
          </a:xfrm>
          <a:prstGeom prst="rect">
            <a:avLst/>
          </a:prstGeom>
          <a:noFill/>
          <a:ln/>
        </p:spPr>
        <p:txBody>
          <a:bodyPr wrap="square" lIns="0" tIns="0" rIns="0" bIns="0" rtlCol="0" anchor="ctr"/>
          <a:lstStyle/>
          <a:p>
            <a:pPr algn="ctr" indent="0" marL="0">
              <a:buNone/>
            </a:pPr>
            <a:r>
              <a:rPr lang="en-US" sz="1800" i="1" dirty="0">
                <a:solidFill>
                  <a:srgbClr val="0D9488"/>
                </a:solidFill>
                <a:latin typeface="Calibri" pitchFamily="34" charset="0"/>
                <a:ea typeface="Calibri" pitchFamily="34" charset="-122"/>
                <a:cs typeface="Calibri" pitchFamily="34" charset="-120"/>
              </a:rPr>
              <a:t>The model proposes. We decide.</a:t>
            </a:r>
            <a:endParaRPr lang="en-US" sz="1800" dirty="0"/>
          </a:p>
        </p:txBody>
      </p:sp>
      <p:sp>
        <p:nvSpPr>
          <p:cNvPr id="24" name="Text 2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25" name="Text 2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Evidence</a:t>
            </a:r>
            <a:endParaRPr lang="en-US" sz="3200" dirty="0"/>
          </a:p>
        </p:txBody>
      </p:sp>
      <p:sp>
        <p:nvSpPr>
          <p:cNvPr id="3" name="Shape 1"/>
          <p:cNvSpPr/>
          <p:nvPr/>
        </p:nvSpPr>
        <p:spPr>
          <a:xfrm>
            <a:off x="640080" y="1920240"/>
            <a:ext cx="3429000" cy="3017520"/>
          </a:xfrm>
          <a:prstGeom prst="roundRect">
            <a:avLst>
              <a:gd name="adj" fmla="val 3636"/>
            </a:avLst>
          </a:prstGeom>
          <a:solidFill>
            <a:srgbClr val="EEEFF8"/>
          </a:solidFill>
          <a:ln/>
        </p:spPr>
      </p:sp>
      <p:sp>
        <p:nvSpPr>
          <p:cNvPr id="4" name="Text 2"/>
          <p:cNvSpPr txBox="1"/>
          <p:nvPr/>
        </p:nvSpPr>
        <p:spPr>
          <a:xfrm>
            <a:off x="822960" y="2286000"/>
            <a:ext cx="3063240" cy="1097280"/>
          </a:xfrm>
          <a:prstGeom prst="rect">
            <a:avLst/>
          </a:prstGeom>
          <a:noFill/>
          <a:ln/>
        </p:spPr>
        <p:txBody>
          <a:bodyPr wrap="square" lIns="0" tIns="0" rIns="0" bIns="0" rtlCol="0" anchor="ctr"/>
          <a:lstStyle/>
          <a:p>
            <a:pPr algn="ctr" indent="0" marL="0">
              <a:buNone/>
            </a:pPr>
            <a:r>
              <a:rPr lang="en-US" sz="4600" b="1" dirty="0">
                <a:solidFill>
                  <a:srgbClr val="5B4BDB"/>
                </a:solidFill>
                <a:latin typeface="Georgia" pitchFamily="34" charset="0"/>
                <a:ea typeface="Georgia" pitchFamily="34" charset="-122"/>
                <a:cs typeface="Georgia" pitchFamily="34" charset="-120"/>
              </a:rPr>
              <a:t>20 → 18</a:t>
            </a:r>
            <a:endParaRPr lang="en-US" sz="4600" dirty="0"/>
          </a:p>
        </p:txBody>
      </p:sp>
      <p:sp>
        <p:nvSpPr>
          <p:cNvPr id="5" name="Text 3"/>
          <p:cNvSpPr txBox="1"/>
          <p:nvPr/>
        </p:nvSpPr>
        <p:spPr>
          <a:xfrm>
            <a:off x="914400" y="3566160"/>
            <a:ext cx="2880360" cy="1188720"/>
          </a:xfrm>
          <a:prstGeom prst="rect">
            <a:avLst/>
          </a:prstGeom>
          <a:noFill/>
          <a:ln/>
        </p:spPr>
        <p:txBody>
          <a:bodyPr wrap="square" lIns="0" tIns="0" rIns="0" bIns="0" rtlCol="0" anchor="t"/>
          <a:lstStyle/>
          <a:p>
            <a:pPr algn="ctr" indent="0" marL="0">
              <a:lnSpc>
                <a:spcPct val="110000"/>
              </a:lnSpc>
              <a:buNone/>
            </a:pPr>
            <a:r>
              <a:rPr lang="en-US" sz="1700" dirty="0">
                <a:solidFill>
                  <a:srgbClr val="1C1A17"/>
                </a:solidFill>
                <a:latin typeface="Calibri" pitchFamily="34" charset="0"/>
                <a:ea typeface="Calibri" pitchFamily="34" charset="-122"/>
                <a:cs typeface="Calibri" pitchFamily="34" charset="-120"/>
              </a:rPr>
              <a:t>References imported and unique after deduplicating</a:t>
            </a:r>
            <a:endParaRPr lang="en-US" sz="1700" dirty="0"/>
          </a:p>
        </p:txBody>
      </p:sp>
      <p:sp>
        <p:nvSpPr>
          <p:cNvPr id="6" name="Shape 4"/>
          <p:cNvSpPr/>
          <p:nvPr/>
        </p:nvSpPr>
        <p:spPr>
          <a:xfrm>
            <a:off x="4370832" y="1920240"/>
            <a:ext cx="3429000" cy="3017520"/>
          </a:xfrm>
          <a:prstGeom prst="roundRect">
            <a:avLst>
              <a:gd name="adj" fmla="val 3636"/>
            </a:avLst>
          </a:prstGeom>
          <a:solidFill>
            <a:srgbClr val="E6F2F0"/>
          </a:solidFill>
          <a:ln/>
        </p:spPr>
      </p:sp>
      <p:sp>
        <p:nvSpPr>
          <p:cNvPr id="7" name="Text 5"/>
          <p:cNvSpPr txBox="1"/>
          <p:nvPr/>
        </p:nvSpPr>
        <p:spPr>
          <a:xfrm>
            <a:off x="4553712" y="2286000"/>
            <a:ext cx="3063240" cy="1097280"/>
          </a:xfrm>
          <a:prstGeom prst="rect">
            <a:avLst/>
          </a:prstGeom>
          <a:noFill/>
          <a:ln/>
        </p:spPr>
        <p:txBody>
          <a:bodyPr wrap="square" lIns="0" tIns="0" rIns="0" bIns="0" rtlCol="0" anchor="ctr"/>
          <a:lstStyle/>
          <a:p>
            <a:pPr algn="ctr" indent="0" marL="0">
              <a:buNone/>
            </a:pPr>
            <a:r>
              <a:rPr lang="en-US" sz="4600" b="1" dirty="0">
                <a:solidFill>
                  <a:srgbClr val="0D9488"/>
                </a:solidFill>
                <a:latin typeface="Georgia" pitchFamily="34" charset="0"/>
                <a:ea typeface="Georgia" pitchFamily="34" charset="-122"/>
                <a:cs typeface="Georgia" pitchFamily="34" charset="-120"/>
              </a:rPr>
              <a:t>9 / 4 / 5</a:t>
            </a:r>
            <a:endParaRPr lang="en-US" sz="4600" dirty="0"/>
          </a:p>
        </p:txBody>
      </p:sp>
      <p:sp>
        <p:nvSpPr>
          <p:cNvPr id="8" name="Text 6"/>
          <p:cNvSpPr txBox="1"/>
          <p:nvPr/>
        </p:nvSpPr>
        <p:spPr>
          <a:xfrm>
            <a:off x="4645152" y="3566160"/>
            <a:ext cx="2880360" cy="1188720"/>
          </a:xfrm>
          <a:prstGeom prst="rect">
            <a:avLst/>
          </a:prstGeom>
          <a:noFill/>
          <a:ln/>
        </p:spPr>
        <p:txBody>
          <a:bodyPr wrap="square" lIns="0" tIns="0" rIns="0" bIns="0" rtlCol="0" anchor="t"/>
          <a:lstStyle/>
          <a:p>
            <a:pPr algn="ctr" indent="0" marL="0">
              <a:lnSpc>
                <a:spcPct val="110000"/>
              </a:lnSpc>
              <a:buNone/>
            </a:pPr>
            <a:r>
              <a:rPr lang="en-US" sz="1700" dirty="0">
                <a:solidFill>
                  <a:srgbClr val="1C1A17"/>
                </a:solidFill>
                <a:latin typeface="Calibri" pitchFamily="34" charset="0"/>
                <a:ea typeface="Calibri" pitchFamily="34" charset="-122"/>
                <a:cs typeface="Calibri" pitchFamily="34" charset="-120"/>
              </a:rPr>
              <a:t>Approved, rejected and pending</a:t>
            </a:r>
            <a:endParaRPr lang="en-US" sz="1700" dirty="0"/>
          </a:p>
        </p:txBody>
      </p:sp>
      <p:sp>
        <p:nvSpPr>
          <p:cNvPr id="9" name="Shape 7"/>
          <p:cNvSpPr/>
          <p:nvPr/>
        </p:nvSpPr>
        <p:spPr>
          <a:xfrm>
            <a:off x="8101584" y="1920240"/>
            <a:ext cx="3429000" cy="3017520"/>
          </a:xfrm>
          <a:prstGeom prst="roundRect">
            <a:avLst>
              <a:gd name="adj" fmla="val 3636"/>
            </a:avLst>
          </a:prstGeom>
          <a:solidFill>
            <a:srgbClr val="EEEFF8"/>
          </a:solidFill>
          <a:ln/>
        </p:spPr>
      </p:sp>
      <p:sp>
        <p:nvSpPr>
          <p:cNvPr id="10" name="Text 8"/>
          <p:cNvSpPr txBox="1"/>
          <p:nvPr/>
        </p:nvSpPr>
        <p:spPr>
          <a:xfrm>
            <a:off x="8284464" y="2286000"/>
            <a:ext cx="3063240" cy="1097280"/>
          </a:xfrm>
          <a:prstGeom prst="rect">
            <a:avLst/>
          </a:prstGeom>
          <a:noFill/>
          <a:ln/>
        </p:spPr>
        <p:txBody>
          <a:bodyPr wrap="square" lIns="0" tIns="0" rIns="0" bIns="0" rtlCol="0" anchor="ctr"/>
          <a:lstStyle/>
          <a:p>
            <a:pPr algn="ctr" indent="0" marL="0">
              <a:buNone/>
            </a:pPr>
            <a:r>
              <a:rPr lang="en-US" sz="4600" b="1" dirty="0">
                <a:solidFill>
                  <a:srgbClr val="5B4BDB"/>
                </a:solidFill>
                <a:latin typeface="Georgia" pitchFamily="34" charset="0"/>
                <a:ea typeface="Georgia" pitchFamily="34" charset="-122"/>
                <a:cs typeface="Georgia" pitchFamily="34" charset="-120"/>
              </a:rPr>
              <a:t>1</a:t>
            </a:r>
            <a:endParaRPr lang="en-US" sz="4600" dirty="0"/>
          </a:p>
        </p:txBody>
      </p:sp>
      <p:sp>
        <p:nvSpPr>
          <p:cNvPr id="11" name="Text 9"/>
          <p:cNvSpPr txBox="1"/>
          <p:nvPr/>
        </p:nvSpPr>
        <p:spPr>
          <a:xfrm>
            <a:off x="8375904" y="3566160"/>
            <a:ext cx="2880360" cy="1188720"/>
          </a:xfrm>
          <a:prstGeom prst="rect">
            <a:avLst/>
          </a:prstGeom>
          <a:noFill/>
          <a:ln/>
        </p:spPr>
        <p:txBody>
          <a:bodyPr wrap="square" lIns="0" tIns="0" rIns="0" bIns="0" rtlCol="0" anchor="t"/>
          <a:lstStyle/>
          <a:p>
            <a:pPr algn="ctr" indent="0" marL="0">
              <a:lnSpc>
                <a:spcPct val="110000"/>
              </a:lnSpc>
              <a:buNone/>
            </a:pPr>
            <a:r>
              <a:rPr lang="en-US" sz="1700" dirty="0">
                <a:solidFill>
                  <a:srgbClr val="1C1A17"/>
                </a:solidFill>
                <a:latin typeface="Calibri" pitchFamily="34" charset="0"/>
                <a:ea typeface="Calibri" pitchFamily="34" charset="-122"/>
                <a:cs typeface="Calibri" pitchFamily="34" charset="-120"/>
              </a:rPr>
              <a:t>Citation verified against the full text, with page</a:t>
            </a:r>
            <a:endParaRPr lang="en-US" sz="1700" dirty="0"/>
          </a:p>
        </p:txBody>
      </p:sp>
      <p:sp>
        <p:nvSpPr>
          <p:cNvPr id="12" name="Text 10"/>
          <p:cNvSpPr txBox="1"/>
          <p:nvPr/>
        </p:nvSpPr>
        <p:spPr>
          <a:xfrm>
            <a:off x="640080" y="5212080"/>
            <a:ext cx="10881360" cy="457200"/>
          </a:xfrm>
          <a:prstGeom prst="rect">
            <a:avLst/>
          </a:prstGeom>
          <a:noFill/>
          <a:ln/>
        </p:spPr>
        <p:txBody>
          <a:bodyPr wrap="square" lIns="0" tIns="0" rIns="0" bIns="0" rtlCol="0" anchor="ctr"/>
          <a:lstStyle/>
          <a:p>
            <a:pPr algn="ctr" indent="0" marL="0">
              <a:buNone/>
            </a:pPr>
            <a:r>
              <a:rPr lang="en-US" sz="1700" i="1" dirty="0">
                <a:solidFill>
                  <a:srgbClr val="6B645C"/>
                </a:solidFill>
                <a:latin typeface="Calibri" pitchFamily="34" charset="0"/>
                <a:ea typeface="Calibri" pitchFamily="34" charset="-122"/>
                <a:cs typeface="Calibri" pitchFamily="34" charset="-120"/>
              </a:rPr>
              <a:t>We separate what is checked from what is still a proposal.</a:t>
            </a:r>
            <a:endParaRPr lang="en-US" sz="1700" dirty="0"/>
          </a:p>
        </p:txBody>
      </p:sp>
      <p:sp>
        <p:nvSpPr>
          <p:cNvPr id="13" name="Text 11"/>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14" name="Text 12"/>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Limits and responsible use</a:t>
            </a:r>
            <a:endParaRPr lang="en-US" sz="3200" dirty="0"/>
          </a:p>
        </p:txBody>
      </p:sp>
      <p:sp>
        <p:nvSpPr>
          <p:cNvPr id="3" name="Shape 1"/>
          <p:cNvSpPr/>
          <p:nvPr/>
        </p:nvSpPr>
        <p:spPr>
          <a:xfrm>
            <a:off x="640080" y="1920240"/>
            <a:ext cx="3429000" cy="3108960"/>
          </a:xfrm>
          <a:prstGeom prst="roundRect">
            <a:avLst>
              <a:gd name="adj" fmla="val 3529"/>
            </a:avLst>
          </a:prstGeom>
          <a:solidFill>
            <a:srgbClr val="EEEFF8"/>
          </a:solidFill>
          <a:ln/>
        </p:spPr>
      </p:sp>
      <p:sp>
        <p:nvSpPr>
          <p:cNvPr id="4" name="Text 2"/>
          <p:cNvSpPr txBox="1"/>
          <p:nvPr/>
        </p:nvSpPr>
        <p:spPr>
          <a:xfrm>
            <a:off x="914400" y="2194560"/>
            <a:ext cx="2880360" cy="548640"/>
          </a:xfrm>
          <a:prstGeom prst="rect">
            <a:avLst/>
          </a:prstGeom>
          <a:noFill/>
          <a:ln/>
        </p:spPr>
        <p:txBody>
          <a:bodyPr wrap="square" lIns="0" tIns="0" rIns="0" bIns="0" rtlCol="0" anchor="ctr"/>
          <a:lstStyle/>
          <a:p>
            <a:pPr indent="0" marL="0">
              <a:buNone/>
            </a:pPr>
            <a:r>
              <a:rPr lang="en-US" sz="2100" b="1" dirty="0">
                <a:solidFill>
                  <a:srgbClr val="5B4BDB"/>
                </a:solidFill>
                <a:latin typeface="Georgia" pitchFamily="34" charset="0"/>
                <a:ea typeface="Georgia" pitchFamily="34" charset="-122"/>
                <a:cs typeface="Georgia" pitchFamily="34" charset="-120"/>
              </a:rPr>
              <a:t>Not a substitute</a:t>
            </a:r>
            <a:endParaRPr lang="en-US" sz="2100" dirty="0"/>
          </a:p>
        </p:txBody>
      </p:sp>
      <p:sp>
        <p:nvSpPr>
          <p:cNvPr id="5" name="Text 3"/>
          <p:cNvSpPr txBox="1"/>
          <p:nvPr/>
        </p:nvSpPr>
        <p:spPr>
          <a:xfrm>
            <a:off x="914400"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By itself it is not a systematic review</a:t>
            </a:r>
            <a:endParaRPr lang="en-US" sz="1800" dirty="0"/>
          </a:p>
        </p:txBody>
      </p:sp>
      <p:sp>
        <p:nvSpPr>
          <p:cNvPr id="6" name="Shape 4"/>
          <p:cNvSpPr/>
          <p:nvPr/>
        </p:nvSpPr>
        <p:spPr>
          <a:xfrm>
            <a:off x="4370832" y="1920240"/>
            <a:ext cx="3429000" cy="3108960"/>
          </a:xfrm>
          <a:prstGeom prst="roundRect">
            <a:avLst>
              <a:gd name="adj" fmla="val 3529"/>
            </a:avLst>
          </a:prstGeom>
          <a:solidFill>
            <a:srgbClr val="E6F2F0"/>
          </a:solidFill>
          <a:ln/>
        </p:spPr>
      </p:sp>
      <p:sp>
        <p:nvSpPr>
          <p:cNvPr id="7" name="Text 5"/>
          <p:cNvSpPr txBox="1"/>
          <p:nvPr/>
        </p:nvSpPr>
        <p:spPr>
          <a:xfrm>
            <a:off x="4645152" y="2194560"/>
            <a:ext cx="2880360" cy="548640"/>
          </a:xfrm>
          <a:prstGeom prst="rect">
            <a:avLst/>
          </a:prstGeom>
          <a:noFill/>
          <a:ln/>
        </p:spPr>
        <p:txBody>
          <a:bodyPr wrap="square" lIns="0" tIns="0" rIns="0" bIns="0" rtlCol="0" anchor="ctr"/>
          <a:lstStyle/>
          <a:p>
            <a:pPr indent="0" marL="0">
              <a:buNone/>
            </a:pPr>
            <a:r>
              <a:rPr lang="en-US" sz="2100" b="1" dirty="0">
                <a:solidFill>
                  <a:srgbClr val="0D9488"/>
                </a:solidFill>
                <a:latin typeface="Georgia" pitchFamily="34" charset="0"/>
                <a:ea typeface="Georgia" pitchFamily="34" charset="-122"/>
                <a:cs typeface="Georgia" pitchFamily="34" charset="-120"/>
              </a:rPr>
              <a:t>Public data</a:t>
            </a:r>
            <a:endParaRPr lang="en-US" sz="2100" dirty="0"/>
          </a:p>
        </p:txBody>
      </p:sp>
      <p:sp>
        <p:nvSpPr>
          <p:cNvPr id="8" name="Text 6"/>
          <p:cNvSpPr txBox="1"/>
          <p:nvPr/>
        </p:nvSpPr>
        <p:spPr>
          <a:xfrm>
            <a:off x="4645152"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We only show public information</a:t>
            </a:r>
            <a:endParaRPr lang="en-US" sz="1800" dirty="0"/>
          </a:p>
        </p:txBody>
      </p:sp>
      <p:sp>
        <p:nvSpPr>
          <p:cNvPr id="9" name="Shape 7"/>
          <p:cNvSpPr/>
          <p:nvPr/>
        </p:nvSpPr>
        <p:spPr>
          <a:xfrm>
            <a:off x="8101584" y="1920240"/>
            <a:ext cx="3429000" cy="3108960"/>
          </a:xfrm>
          <a:prstGeom prst="roundRect">
            <a:avLst>
              <a:gd name="adj" fmla="val 3529"/>
            </a:avLst>
          </a:prstGeom>
          <a:solidFill>
            <a:srgbClr val="EEEFF8"/>
          </a:solidFill>
          <a:ln/>
        </p:spPr>
      </p:sp>
      <p:sp>
        <p:nvSpPr>
          <p:cNvPr id="10" name="Text 8"/>
          <p:cNvSpPr txBox="1"/>
          <p:nvPr/>
        </p:nvSpPr>
        <p:spPr>
          <a:xfrm>
            <a:off x="8375904" y="2194560"/>
            <a:ext cx="2880360" cy="548640"/>
          </a:xfrm>
          <a:prstGeom prst="rect">
            <a:avLst/>
          </a:prstGeom>
          <a:noFill/>
          <a:ln/>
        </p:spPr>
        <p:txBody>
          <a:bodyPr wrap="square" lIns="0" tIns="0" rIns="0" bIns="0" rtlCol="0" anchor="ctr"/>
          <a:lstStyle/>
          <a:p>
            <a:pPr indent="0" marL="0">
              <a:buNone/>
            </a:pPr>
            <a:r>
              <a:rPr lang="en-US" sz="2100" b="1" dirty="0">
                <a:solidFill>
                  <a:srgbClr val="5B4BDB"/>
                </a:solidFill>
                <a:latin typeface="Georgia" pitchFamily="34" charset="0"/>
                <a:ea typeface="Georgia" pitchFamily="34" charset="-122"/>
                <a:cs typeface="Georgia" pitchFamily="34" charset="-120"/>
              </a:rPr>
              <a:t>Next step</a:t>
            </a:r>
            <a:endParaRPr lang="en-US" sz="2100" dirty="0"/>
          </a:p>
        </p:txBody>
      </p:sp>
      <p:sp>
        <p:nvSpPr>
          <p:cNvPr id="11" name="Text 9"/>
          <p:cNvSpPr txBox="1"/>
          <p:nvPr/>
        </p:nvSpPr>
        <p:spPr>
          <a:xfrm>
            <a:off x="8375904" y="2880360"/>
            <a:ext cx="2880360" cy="1920240"/>
          </a:xfrm>
          <a:prstGeom prst="rect">
            <a:avLst/>
          </a:prstGeom>
          <a:noFill/>
          <a:ln/>
        </p:spPr>
        <p:txBody>
          <a:bodyPr wrap="square" lIns="0" tIns="0" rIns="0" bIns="0" rtlCol="0" anchor="t"/>
          <a:lstStyle/>
          <a:p>
            <a:pPr indent="0" marL="0">
              <a:lnSpc>
                <a:spcPct val="115000"/>
              </a:lnSpc>
              <a:buNone/>
            </a:pPr>
            <a:r>
              <a:rPr lang="en-US" sz="1800" dirty="0">
                <a:solidFill>
                  <a:srgbClr val="1C1A17"/>
                </a:solidFill>
                <a:latin typeface="Calibri" pitchFamily="34" charset="0"/>
                <a:ea typeface="Calibri" pitchFamily="34" charset="-122"/>
                <a:cs typeface="Calibri" pitchFamily="34" charset="-120"/>
              </a:rPr>
              <a:t>Add a third source and take it to the virtual classroom</a:t>
            </a:r>
            <a:endParaRPr lang="en-US" sz="1800" dirty="0"/>
          </a:p>
        </p:txBody>
      </p:sp>
      <p:sp>
        <p:nvSpPr>
          <p:cNvPr id="12" name="Text 10"/>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13" name="Text 11"/>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Demo: the collection</a:t>
            </a:r>
            <a:endParaRPr lang="en-US" sz="3200" dirty="0"/>
          </a:p>
        </p:txBody>
      </p:sp>
      <p:pic>
        <p:nvPicPr>
          <p:cNvPr id="3" name="Image 0" descr="proyecto-final/capturas/captura_entrada.png">    </p:cNvPr>
          <p:cNvPicPr>
            <a:picLocks noChangeAspect="1"/>
          </p:cNvPicPr>
          <p:nvPr/>
        </p:nvPicPr>
        <p:blipFill>
          <a:blip r:embed="rId1"/>
          <a:srcRect l="0" r="0" t="0" b="0"/>
          <a:stretch/>
        </p:blipFill>
        <p:spPr>
          <a:xfrm>
            <a:off x="1691640" y="1371600"/>
            <a:ext cx="8805672" cy="4572000"/>
          </a:xfrm>
          <a:prstGeom prst="rect">
            <a:avLst/>
          </a:prstGeom>
        </p:spPr>
      </p:pic>
      <p:sp>
        <p:nvSpPr>
          <p:cNvPr id="4" name="Text 1"/>
          <p:cNvSpPr txBox="1"/>
          <p:nvPr/>
        </p:nvSpPr>
        <p:spPr>
          <a:xfrm>
            <a:off x="640080" y="5989320"/>
            <a:ext cx="10881360" cy="411480"/>
          </a:xfrm>
          <a:prstGeom prst="rect">
            <a:avLst/>
          </a:prstGeom>
          <a:noFill/>
          <a:ln/>
        </p:spPr>
        <p:txBody>
          <a:bodyPr wrap="square" lIns="0" tIns="0" rIns="0" bIns="0" rtlCol="0" anchor="ctr"/>
          <a:lstStyle/>
          <a:p>
            <a:pPr algn="ctr" indent="0" marL="0">
              <a:buNone/>
            </a:pPr>
            <a:r>
              <a:rPr lang="en-US" sz="1600" i="1" dirty="0">
                <a:solidFill>
                  <a:srgbClr val="6B645C"/>
                </a:solidFill>
                <a:latin typeface="Calibri" pitchFamily="34" charset="0"/>
                <a:ea typeface="Calibri" pitchFamily="34" charset="-122"/>
                <a:cs typeface="Calibri" pitchFamily="34" charset="-120"/>
              </a:rPr>
              <a:t>Each reference with its status and the recorded decision</a:t>
            </a:r>
            <a:endParaRPr lang="en-US" sz="1600" dirty="0"/>
          </a:p>
        </p:txBody>
      </p:sp>
      <p:sp>
        <p:nvSpPr>
          <p:cNvPr id="5" name="Text 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6" name="Text 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Demo: pending list</a:t>
            </a:r>
            <a:endParaRPr lang="en-US" sz="3200" dirty="0"/>
          </a:p>
        </p:txBody>
      </p:sp>
      <p:pic>
        <p:nvPicPr>
          <p:cNvPr id="3" name="Image 0" descr="proyecto-final/capturas/captura_resultado.png">    </p:cNvPr>
          <p:cNvPicPr>
            <a:picLocks noChangeAspect="1"/>
          </p:cNvPicPr>
          <p:nvPr/>
        </p:nvPicPr>
        <p:blipFill>
          <a:blip r:embed="rId1"/>
          <a:srcRect l="0" r="0" t="0" b="0"/>
          <a:stretch/>
        </p:blipFill>
        <p:spPr>
          <a:xfrm>
            <a:off x="1691640" y="1371600"/>
            <a:ext cx="8805672" cy="4572000"/>
          </a:xfrm>
          <a:prstGeom prst="rect">
            <a:avLst/>
          </a:prstGeom>
        </p:spPr>
      </p:pic>
      <p:sp>
        <p:nvSpPr>
          <p:cNvPr id="4" name="Text 1"/>
          <p:cNvSpPr txBox="1"/>
          <p:nvPr/>
        </p:nvSpPr>
        <p:spPr>
          <a:xfrm>
            <a:off x="640080" y="5989320"/>
            <a:ext cx="10881360" cy="411480"/>
          </a:xfrm>
          <a:prstGeom prst="rect">
            <a:avLst/>
          </a:prstGeom>
          <a:noFill/>
          <a:ln/>
        </p:spPr>
        <p:txBody>
          <a:bodyPr wrap="square" lIns="0" tIns="0" rIns="0" bIns="0" rtlCol="0" anchor="ctr"/>
          <a:lstStyle/>
          <a:p>
            <a:pPr algn="ctr" indent="0" marL="0">
              <a:buNone/>
            </a:pPr>
            <a:r>
              <a:rPr lang="en-US" sz="1600" i="1" dirty="0">
                <a:solidFill>
                  <a:srgbClr val="6B645C"/>
                </a:solidFill>
                <a:latin typeface="Calibri" pitchFamily="34" charset="0"/>
                <a:ea typeface="Calibri" pitchFamily="34" charset="-122"/>
                <a:cs typeface="Calibri" pitchFamily="34" charset="-120"/>
              </a:rPr>
              <a:t>The A I suggests and justifies; the human decision stays with the person</a:t>
            </a:r>
            <a:endParaRPr lang="en-US" sz="1600" dirty="0"/>
          </a:p>
        </p:txBody>
      </p:sp>
      <p:sp>
        <p:nvSpPr>
          <p:cNvPr id="5" name="Text 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6" name="Text 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indent="0" marL="0">
              <a:buNone/>
            </a:pPr>
            <a:r>
              <a:rPr lang="en-US" sz="3200" b="1" dirty="0">
                <a:solidFill>
                  <a:srgbClr val="1C1A17"/>
                </a:solidFill>
                <a:latin typeface="Georgia" pitchFamily="34" charset="0"/>
                <a:ea typeface="Georgia" pitchFamily="34" charset="-122"/>
                <a:cs typeface="Georgia" pitchFamily="34" charset="-120"/>
              </a:rPr>
              <a:t>Demo: the history</a:t>
            </a:r>
            <a:endParaRPr lang="en-US" sz="3200" dirty="0"/>
          </a:p>
        </p:txBody>
      </p:sp>
      <p:pic>
        <p:nvPicPr>
          <p:cNvPr id="3" name="Image 0" descr="proyecto-final/capturas/captura_revision.png">    </p:cNvPr>
          <p:cNvPicPr>
            <a:picLocks noChangeAspect="1"/>
          </p:cNvPicPr>
          <p:nvPr/>
        </p:nvPicPr>
        <p:blipFill>
          <a:blip r:embed="rId1"/>
          <a:srcRect l="0" r="0" t="0" b="0"/>
          <a:stretch/>
        </p:blipFill>
        <p:spPr>
          <a:xfrm>
            <a:off x="1691640" y="1371600"/>
            <a:ext cx="8805672" cy="4572000"/>
          </a:xfrm>
          <a:prstGeom prst="rect">
            <a:avLst/>
          </a:prstGeom>
        </p:spPr>
      </p:pic>
      <p:sp>
        <p:nvSpPr>
          <p:cNvPr id="4" name="Text 1"/>
          <p:cNvSpPr txBox="1"/>
          <p:nvPr/>
        </p:nvSpPr>
        <p:spPr>
          <a:xfrm>
            <a:off x="640080" y="5989320"/>
            <a:ext cx="10881360" cy="411480"/>
          </a:xfrm>
          <a:prstGeom prst="rect">
            <a:avLst/>
          </a:prstGeom>
          <a:noFill/>
          <a:ln/>
        </p:spPr>
        <p:txBody>
          <a:bodyPr wrap="square" lIns="0" tIns="0" rIns="0" bIns="0" rtlCol="0" anchor="ctr"/>
          <a:lstStyle/>
          <a:p>
            <a:pPr algn="ctr" indent="0" marL="0">
              <a:buNone/>
            </a:pPr>
            <a:r>
              <a:rPr lang="en-US" sz="1600" i="1" dirty="0">
                <a:solidFill>
                  <a:srgbClr val="6B645C"/>
                </a:solidFill>
                <a:latin typeface="Calibri" pitchFamily="34" charset="0"/>
                <a:ea typeface="Calibri" pitchFamily="34" charset="-122"/>
                <a:cs typeface="Calibri" pitchFamily="34" charset="-120"/>
              </a:rPr>
              <a:t>A dated record of every change; nothing is deleted</a:t>
            </a:r>
            <a:endParaRPr lang="en-US" sz="1600" dirty="0"/>
          </a:p>
        </p:txBody>
      </p:sp>
      <p:sp>
        <p:nvSpPr>
          <p:cNvPr id="5" name="Text 2"/>
          <p:cNvSpPr txBox="1"/>
          <p:nvPr/>
        </p:nvSpPr>
        <p:spPr>
          <a:xfrm>
            <a:off x="640080" y="6473952"/>
            <a:ext cx="8229600" cy="274320"/>
          </a:xfrm>
          <a:prstGeom prst="rect">
            <a:avLst/>
          </a:prstGeom>
          <a:noFill/>
          <a:ln/>
        </p:spPr>
        <p:txBody>
          <a:bodyPr wrap="square" lIns="0" tIns="0" rIns="0" bIns="0" rtlCol="0" anchor="ctr"/>
          <a:lstStyle/>
          <a:p>
            <a:pPr indent="0" marL="0">
              <a:buNone/>
            </a:pPr>
            <a:r>
              <a:rPr lang="en-US" sz="900" dirty="0">
                <a:solidFill>
                  <a:srgbClr val="6B645C"/>
                </a:solidFill>
                <a:latin typeface="Calibri" pitchFamily="34" charset="0"/>
                <a:ea typeface="Calibri" pitchFamily="34" charset="-122"/>
                <a:cs typeface="Calibri" pitchFamily="34" charset="-120"/>
              </a:rPr>
              <a:t>Vibe Coding CEDIA 2026 · Universidad UTE · UTPL</a:t>
            </a:r>
            <a:endParaRPr lang="en-US" sz="900" dirty="0"/>
          </a:p>
        </p:txBody>
      </p:sp>
      <p:sp>
        <p:nvSpPr>
          <p:cNvPr id="6" name="Text 3"/>
          <p:cNvSpPr txBox="1"/>
          <p:nvPr/>
        </p:nvSpPr>
        <p:spPr>
          <a:xfrm>
            <a:off x="10058400" y="6473952"/>
            <a:ext cx="1490472" cy="274320"/>
          </a:xfrm>
          <a:prstGeom prst="rect">
            <a:avLst/>
          </a:prstGeom>
          <a:noFill/>
          <a:ln/>
        </p:spPr>
        <p:txBody>
          <a:bodyPr wrap="square" lIns="0" tIns="0" rIns="0" bIns="0" rtlCol="0" anchor="ctr"/>
          <a:lstStyle/>
          <a:p>
            <a:pPr algn="r" indent="0" marL="0">
              <a:buNone/>
            </a:pPr>
            <a:r>
              <a:rPr lang="en-US" sz="900" dirty="0">
                <a:solidFill>
                  <a:srgbClr val="6B645C"/>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5B4BDB">
              <a:alpha val="20000"/>
            </a:srgbClr>
          </a:solidFill>
          <a:ln/>
        </p:spPr>
      </p:sp>
      <p:sp>
        <p:nvSpPr>
          <p:cNvPr id="3" name="Text 1"/>
          <p:cNvSpPr txBox="1"/>
          <p:nvPr/>
        </p:nvSpPr>
        <p:spPr>
          <a:xfrm>
            <a:off x="731520" y="2011680"/>
            <a:ext cx="1051560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The decision stays human</a:t>
            </a:r>
            <a:endParaRPr lang="en-US" sz="3800" dirty="0"/>
          </a:p>
        </p:txBody>
      </p:sp>
      <p:sp>
        <p:nvSpPr>
          <p:cNvPr id="4" name="Text 2"/>
          <p:cNvSpPr txBox="1"/>
          <p:nvPr/>
        </p:nvSpPr>
        <p:spPr>
          <a:xfrm>
            <a:off x="731520" y="3200400"/>
            <a:ext cx="10058400" cy="731520"/>
          </a:xfrm>
          <a:prstGeom prst="rect">
            <a:avLst/>
          </a:prstGeom>
          <a:noFill/>
          <a:ln/>
        </p:spPr>
        <p:txBody>
          <a:bodyPr wrap="square" lIns="0" tIns="0" rIns="0" bIns="0" rtlCol="0" anchor="ctr"/>
          <a:lstStyle/>
          <a:p>
            <a:pPr indent="0" marL="0">
              <a:lnSpc>
                <a:spcPct val="110000"/>
              </a:lnSpc>
              <a:buNone/>
            </a:pPr>
            <a:r>
              <a:rPr lang="en-US" sz="2000" i="1" dirty="0">
                <a:solidFill>
                  <a:srgbClr val="FFC629"/>
                </a:solidFill>
                <a:latin typeface="Calibri" pitchFamily="34" charset="0"/>
                <a:ea typeface="Calibri" pitchFamily="34" charset="-122"/>
                <a:cs typeface="Calibri" pitchFamily="34" charset="-120"/>
              </a:rPr>
              <a:t>The review stops ageing out of control and the manual work is reduced</a:t>
            </a:r>
            <a:endParaRPr lang="en-US" sz="2000" dirty="0"/>
          </a:p>
        </p:txBody>
      </p:sp>
      <p:sp>
        <p:nvSpPr>
          <p:cNvPr id="5" name="Text 3"/>
          <p:cNvSpPr txBox="1"/>
          <p:nvPr/>
        </p:nvSpPr>
        <p:spPr>
          <a:xfrm>
            <a:off x="731520" y="4389120"/>
            <a:ext cx="10515600" cy="1097280"/>
          </a:xfrm>
          <a:prstGeom prst="rect">
            <a:avLst/>
          </a:prstGeom>
          <a:noFill/>
          <a:ln/>
        </p:spPr>
        <p:txBody>
          <a:bodyPr wrap="square" lIns="0" tIns="0" rIns="0" bIns="0" rtlCol="0" anchor="ctr"/>
          <a:lstStyle/>
          <a:p>
            <a:pPr indent="0" marL="0">
              <a:lnSpc>
                <a:spcPct val="130000"/>
              </a:lnSpc>
              <a:buNone/>
            </a:pPr>
            <a:r>
              <a:rPr lang="en-US" sz="1800" dirty="0">
                <a:solidFill>
                  <a:srgbClr val="CADCFC"/>
                </a:solidFill>
                <a:latin typeface="Calibri" pitchFamily="34" charset="0"/>
                <a:ea typeface="Calibri" pitchFamily="34" charset="-122"/>
                <a:cs typeface="Calibri" pitchFamily="34" charset="-120"/>
              </a:rPr>
              <a:t>github.com/srbenitez/revision-viva-rag-demo</a:t>
            </a:r>
            <a:endParaRPr lang="en-US" sz="1800" dirty="0"/>
          </a:p>
          <a:p>
            <a:pPr indent="0" marL="0">
              <a:lnSpc>
                <a:spcPct val="130000"/>
              </a:lnSpc>
              <a:buNone/>
            </a:pPr>
            <a:r>
              <a:rPr lang="en-US" sz="1800" dirty="0">
                <a:solidFill>
                  <a:srgbClr val="FFFFFF"/>
                </a:solidFill>
                <a:latin typeface="Calibri" pitchFamily="34" charset="0"/>
                <a:ea typeface="Calibri" pitchFamily="34" charset="-122"/>
                <a:cs typeface="Calibri" pitchFamily="34" charset="-120"/>
              </a:rPr>
              <a:t>Marcelo Carrera · UTE    ·    Segundo Benítez · UTPL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2026-10-11T14:23:05Z</dcterms:created>
  <dcterms:modified xsi:type="dcterms:W3CDTF">2026-10-11T14:23:05Z</dcterms:modified>
</cp:coreProperties>
</file>