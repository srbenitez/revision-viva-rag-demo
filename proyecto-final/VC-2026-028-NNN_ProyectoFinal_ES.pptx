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nuestro registro de revisión bibliográfica en actualización continua. Somos Marcelo Carrera, de la Universidad U T E, y Segundo Benítez, de la U T P L. Mantiene viva una revisión sin rehacerla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revisión bibliográfica envejece desde el día en que se entrega. Aparecen estudios nuevos cada semana. Volver a buscar y a depurar duplicados a mano casi nunca ocurre. Falta tiempo. Veamos un caso concreto. Traemos un lote nuevo desde Scopus. Un artículo que ya teníamos vuelve a entrar. Su identificador D O I viene escrito como dirección web. Si nadie lo nota, se cuela dos veces. Así la revisión pierde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Construimos un registro vivo basado en la guía diez del curso. Lo usa un docente o un investigador. Recibe lotes de referencias con título, año y resumen. Entrega tres cosas. Una colección sin duplicados. Una lista de pendientes con una sugerencia de pertinencia. Y una síntesis con citas comprobadas. Todo queda en archivos de texto sencillos que cualquiera puede abrir y revisar.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tiene cuatro pasos. Primero la persona fija la pregunta y los criterios de inclusión. Segundo un programa deduplica en código. Compara el D O I normalizado y los títulos parecidos. Esta parte no la decide el modelo. Tercero la inteligencia artificial sugiere incluir o excluir cada estudio. Siempre cita el resumen y da un motivo breve. Cuarto la persona revisa y decide. La decisión queda firmada con su nombre y la fecha. El modelo propone. Nosotros decidimos y dejamos constancia.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Hicimos una prueba real con dos fuentes. Importamos veinte referencias. El programa detectó dos duplicados entre fuentes y los señaló sin fusionarlos. Quedaron dieciocho referencias únicas. Sobre ellas decidimos. Nueve aprobadas. Cuatro rechazadas por estar fuera del tema. Cinco quedaron pendientes por falta de resumen. Además verificamos una cita contra el texto completo, con su página. Guardamos también las búsquedas originales con su fecha. Separamos lo comprobado de lo que todavía es una propuesta.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Seamos claros con los límites. Este registro apoya el cribado. No es por sí mismo una revisión sistemática. Google Académico no entrega resúmenes. Por eso algunas referencias quedan sin evaluar. Cuidamos los datos. Solo mostramos información pública. El siguiente paso es sumar una tercera fuente y llevarlo al aula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la herramienta en pantalla. Esta es la vista de la colección. Cada fila es una referencia con su identificador, su título y su estado. Arriba hay un buscador y un filtro por estado. Aquí la persona parte de criterios claros. El visor no modifica nada. Solo muestra lo que el registro contiene. Desde esta misma pantalla se entiende qué entró, de qué fuente y con qué fecha.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la lista de pendientes. Aquí está el corazón del registro. Para cada estudio la inteligencia artificial propone incluir o excluir. Y escribe una justificación que cita el resumen. Cuando una referencia no trae resumen, el sistema lo marca como evidencia insuficiente. No inventa un veredicto. Cada sugerencia muestra también el enlace a la fuente. La columna de decisión humana queda en blanco. Está lista para que la persona resuelva.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la pantalla del historial. Aquí queda el registro fechado de cada cambio. Qué lote entró. Qué duplicado se descartó. Qué se aprobó o se rechazó y quién lo decidió. Nada se borra. Un rechazo se conserva con su motivo. Así no reaparece sin aviso. Con este historial cualquiera puede rehacer la colección paso a paso. La síntesis final se exporta solo con los estudios aprobados.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este registro la revisión deja de envejecer sin control. El trabajo manual de depurar se reduce. Y la decisión sigue siendo humana. Pueden ver el proyecto en nuestro sitio público. Gracias por acompañarnos. Somos Marcelo Carrera y Segundo Benítez, de la U T E y la U T P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8961120" y="3931920"/>
            <a:ext cx="4754880" cy="4754880"/>
          </a:xfrm>
          <a:prstGeom prst="ellipse">
            <a:avLst/>
          </a:prstGeom>
          <a:solidFill>
            <a:srgbClr val="FFC629">
              <a:alpha val="12000"/>
            </a:srgbClr>
          </a:solidFill>
          <a:ln/>
        </p:spPr>
      </p:sp>
      <p:sp>
        <p:nvSpPr>
          <p:cNvPr id="3" name="Text 1"/>
          <p:cNvSpPr txBox="1"/>
          <p:nvPr/>
        </p:nvSpPr>
        <p:spPr>
          <a:xfrm>
            <a:off x="731520" y="1371600"/>
            <a:ext cx="10058400" cy="16459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Revisión bibliográfica en actualización continua</a:t>
            </a:r>
            <a:endParaRPr lang="en-US" sz="4000" dirty="0"/>
          </a:p>
        </p:txBody>
      </p:sp>
      <p:sp>
        <p:nvSpPr>
          <p:cNvPr id="4" name="Text 2"/>
          <p:cNvSpPr txBox="1"/>
          <p:nvPr/>
        </p:nvSpPr>
        <p:spPr>
          <a:xfrm>
            <a:off x="731520" y="3017520"/>
            <a:ext cx="9601200" cy="548640"/>
          </a:xfrm>
          <a:prstGeom prst="rect">
            <a:avLst/>
          </a:prstGeom>
          <a:noFill/>
          <a:ln/>
        </p:spPr>
        <p:txBody>
          <a:bodyPr wrap="square" lIns="0" tIns="0" rIns="0" bIns="0" rtlCol="0" anchor="ctr"/>
          <a:lstStyle/>
          <a:p>
            <a:pPr indent="0" marL="0">
              <a:buNone/>
            </a:pPr>
            <a:r>
              <a:rPr lang="en-US" sz="2000" i="1" dirty="0">
                <a:solidFill>
                  <a:srgbClr val="FFC629"/>
                </a:solidFill>
                <a:latin typeface="Calibri" pitchFamily="34" charset="0"/>
                <a:ea typeface="Calibri" pitchFamily="34" charset="-122"/>
                <a:cs typeface="Calibri" pitchFamily="34" charset="-120"/>
              </a:rPr>
              <a:t>Mantiene viva una revisión sin rehacerla a mano</a:t>
            </a:r>
            <a:endParaRPr lang="en-US" sz="2000" dirty="0"/>
          </a:p>
        </p:txBody>
      </p:sp>
      <p:sp>
        <p:nvSpPr>
          <p:cNvPr id="5" name="Text 3"/>
          <p:cNvSpPr txBox="1"/>
          <p:nvPr/>
        </p:nvSpPr>
        <p:spPr>
          <a:xfrm>
            <a:off x="731520" y="4114800"/>
            <a:ext cx="9144000" cy="1280160"/>
          </a:xfrm>
          <a:prstGeom prst="rect">
            <a:avLst/>
          </a:prstGeom>
          <a:noFill/>
          <a:ln/>
        </p:spPr>
        <p:txBody>
          <a:bodyPr wrap="square" lIns="0" tIns="0" rIns="0" bIns="0" rtlCol="0" anchor="ctr"/>
          <a:lstStyle/>
          <a:p>
            <a:pPr indent="0" marL="0">
              <a:lnSpc>
                <a:spcPct val="120000"/>
              </a:lnSpc>
              <a:buNone/>
            </a:pPr>
            <a:r>
              <a:rPr lang="en-US" sz="1800" dirty="0">
                <a:solidFill>
                  <a:srgbClr val="FFFFFF"/>
                </a:solidFill>
                <a:latin typeface="Calibri" pitchFamily="34" charset="0"/>
                <a:ea typeface="Calibri" pitchFamily="34" charset="-122"/>
                <a:cs typeface="Calibri" pitchFamily="34" charset="-120"/>
              </a:rPr>
              <a:t>Marcelo Carrera  ·  Universidad UTE</a:t>
            </a:r>
            <a:endParaRPr lang="en-US" sz="1800" dirty="0"/>
          </a:p>
          <a:p>
            <a:pPr indent="0" marL="0">
              <a:lnSpc>
                <a:spcPct val="120000"/>
              </a:lnSpc>
              <a:buNone/>
            </a:pPr>
            <a:r>
              <a:rPr lang="en-US" sz="1800" dirty="0">
                <a:solidFill>
                  <a:srgbClr val="FFFFFF"/>
                </a:solidFill>
                <a:latin typeface="Calibri" pitchFamily="34" charset="0"/>
                <a:ea typeface="Calibri" pitchFamily="34" charset="-122"/>
                <a:cs typeface="Calibri" pitchFamily="34" charset="-120"/>
              </a:rPr>
              <a:t>Segundo Benítez  ·  UTPL</a:t>
            </a:r>
            <a:endParaRPr lang="en-US" sz="1800" dirty="0"/>
          </a:p>
          <a:p>
            <a:pPr indent="0" marL="0">
              <a:lnSpc>
                <a:spcPct val="120000"/>
              </a:lnSpc>
              <a:buNone/>
            </a:pPr>
            <a:r>
              <a:rPr lang="en-US" sz="1800" dirty="0">
                <a:solidFill>
                  <a:srgbClr val="AEB4C7"/>
                </a:solidFill>
                <a:latin typeface="Calibri" pitchFamily="34" charset="0"/>
                <a:ea typeface="Calibri" pitchFamily="34" charset="-122"/>
                <a:cs typeface="Calibri" pitchFamily="34" charset="-120"/>
              </a:rPr>
              <a:t>Guía 10 · Vibe Coding CEDIA 2026</a:t>
            </a:r>
            <a:endParaRPr lang="en-US" sz="1800" dirty="0"/>
          </a:p>
        </p:txBody>
      </p:sp>
      <p:sp>
        <p:nvSpPr>
          <p:cNvPr id="6" name="Text 4"/>
          <p:cNvSpPr txBox="1"/>
          <p:nvPr/>
        </p:nvSpPr>
        <p:spPr>
          <a:xfrm>
            <a:off x="731520" y="6126480"/>
            <a:ext cx="10515600" cy="365760"/>
          </a:xfrm>
          <a:prstGeom prst="rect">
            <a:avLst/>
          </a:prstGeom>
          <a:noFill/>
          <a:ln/>
        </p:spPr>
        <p:txBody>
          <a:bodyPr wrap="square" lIns="0" tIns="0" rIns="0" bIns="0" rtlCol="0" anchor="ctr"/>
          <a:lstStyle/>
          <a:p>
            <a:pPr indent="0" marL="0">
              <a:buNone/>
            </a:pPr>
            <a:r>
              <a:rPr lang="en-US" sz="1200" dirty="0">
                <a:solidFill>
                  <a:srgbClr val="AEB4C7"/>
                </a:solidFill>
                <a:latin typeface="Calibri" pitchFamily="34" charset="0"/>
                <a:ea typeface="Calibri" pitchFamily="34" charset="-122"/>
                <a:cs typeface="Calibri" pitchFamily="34" charset="-120"/>
              </a:rPr>
              <a:t>Narración generada con voz de IA (ElevenLabs) y revisada por los autores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El problema</a:t>
            </a:r>
            <a:endParaRPr lang="en-US" sz="3200" dirty="0"/>
          </a:p>
        </p:txBody>
      </p:sp>
      <p:sp>
        <p:nvSpPr>
          <p:cNvPr id="3" name="Text 1"/>
          <p:cNvSpPr txBox="1"/>
          <p:nvPr/>
        </p:nvSpPr>
        <p:spPr>
          <a:xfrm>
            <a:off x="640080" y="1463040"/>
            <a:ext cx="6400800" cy="2011680"/>
          </a:xfrm>
          <a:prstGeom prst="rect">
            <a:avLst/>
          </a:prstGeom>
          <a:noFill/>
          <a:ln/>
        </p:spPr>
        <p:txBody>
          <a:bodyPr wrap="square" lIns="0" tIns="0" rIns="0" bIns="0" rtlCol="0" anchor="t"/>
          <a:lstStyle/>
          <a:p>
            <a:pPr indent="0" marL="0">
              <a:lnSpc>
                <a:spcPct val="115000"/>
              </a:lnSpc>
              <a:buNone/>
            </a:pPr>
            <a:r>
              <a:rPr lang="en-US" sz="2200" dirty="0">
                <a:solidFill>
                  <a:srgbClr val="1C1A17"/>
                </a:solidFill>
                <a:latin typeface="Calibri" pitchFamily="34" charset="0"/>
                <a:ea typeface="Calibri" pitchFamily="34" charset="-122"/>
                <a:cs typeface="Calibri" pitchFamily="34" charset="-120"/>
              </a:rPr>
              <a:t>Una revisión envejece desde el día en que se entrega. Rebuscar y depurar a mano casi nunca ocurre.</a:t>
            </a:r>
            <a:endParaRPr lang="en-US" sz="2200" dirty="0"/>
          </a:p>
        </p:txBody>
      </p:sp>
      <p:sp>
        <p:nvSpPr>
          <p:cNvPr id="4" name="Shape 2"/>
          <p:cNvSpPr/>
          <p:nvPr/>
        </p:nvSpPr>
        <p:spPr>
          <a:xfrm>
            <a:off x="7406640" y="1554480"/>
            <a:ext cx="4114800" cy="3291840"/>
          </a:xfrm>
          <a:prstGeom prst="roundRect">
            <a:avLst>
              <a:gd name="adj" fmla="val 3333"/>
            </a:avLst>
          </a:prstGeom>
          <a:solidFill>
            <a:srgbClr val="EEEFF8"/>
          </a:solidFill>
          <a:ln/>
        </p:spPr>
      </p:sp>
      <p:sp>
        <p:nvSpPr>
          <p:cNvPr id="5" name="Text 3"/>
          <p:cNvSpPr txBox="1"/>
          <p:nvPr/>
        </p:nvSpPr>
        <p:spPr>
          <a:xfrm>
            <a:off x="7406640" y="1828800"/>
            <a:ext cx="4114800" cy="1280160"/>
          </a:xfrm>
          <a:prstGeom prst="rect">
            <a:avLst/>
          </a:prstGeom>
          <a:noFill/>
          <a:ln/>
        </p:spPr>
        <p:txBody>
          <a:bodyPr wrap="square" lIns="0" tIns="0" rIns="0" bIns="0" rtlCol="0" anchor="ctr"/>
          <a:lstStyle/>
          <a:p>
            <a:pPr algn="ctr" indent="0" marL="0">
              <a:buNone/>
            </a:pPr>
            <a:r>
              <a:rPr lang="en-US" sz="6600" b="1" dirty="0">
                <a:solidFill>
                  <a:srgbClr val="5B4BDB"/>
                </a:solidFill>
                <a:latin typeface="Georgia" pitchFamily="34" charset="0"/>
                <a:ea typeface="Georgia" pitchFamily="34" charset="-122"/>
                <a:cs typeface="Georgia" pitchFamily="34" charset="-120"/>
              </a:rPr>
              <a:t>2×</a:t>
            </a:r>
            <a:endParaRPr lang="en-US" sz="6600" dirty="0"/>
          </a:p>
        </p:txBody>
      </p:sp>
      <p:sp>
        <p:nvSpPr>
          <p:cNvPr id="6" name="Text 4"/>
          <p:cNvSpPr txBox="1"/>
          <p:nvPr/>
        </p:nvSpPr>
        <p:spPr>
          <a:xfrm>
            <a:off x="7680960" y="3200400"/>
            <a:ext cx="3566160" cy="1463040"/>
          </a:xfrm>
          <a:prstGeom prst="rect">
            <a:avLst/>
          </a:prstGeom>
          <a:noFill/>
          <a:ln/>
        </p:spPr>
        <p:txBody>
          <a:bodyPr wrap="square" lIns="0" tIns="0" rIns="0" bIns="0" rtlCol="0" anchor="t"/>
          <a:lstStyle/>
          <a:p>
            <a:pPr algn="ctr" indent="0" marL="0">
              <a:lnSpc>
                <a:spcPct val="110000"/>
              </a:lnSpc>
              <a:buNone/>
            </a:pPr>
            <a:r>
              <a:rPr lang="en-US" sz="1800" dirty="0">
                <a:solidFill>
                  <a:srgbClr val="1C1A17"/>
                </a:solidFill>
                <a:latin typeface="Calibri" pitchFamily="34" charset="0"/>
                <a:ea typeface="Calibri" pitchFamily="34" charset="-122"/>
                <a:cs typeface="Calibri" pitchFamily="34" charset="-120"/>
              </a:rPr>
              <a:t>El mismo artículo se cuela dos veces cuando el D O I viene como dirección web</a:t>
            </a:r>
            <a:endParaRPr lang="en-US" sz="1800" dirty="0"/>
          </a:p>
        </p:txBody>
      </p:sp>
      <p:sp>
        <p:nvSpPr>
          <p:cNvPr id="7" name="Text 5"/>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8" name="Text 6"/>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La herramienta</a:t>
            </a:r>
            <a:endParaRPr lang="en-US" sz="3200" dirty="0"/>
          </a:p>
        </p:txBody>
      </p:sp>
      <p:sp>
        <p:nvSpPr>
          <p:cNvPr id="3" name="Shape 1"/>
          <p:cNvSpPr/>
          <p:nvPr/>
        </p:nvSpPr>
        <p:spPr>
          <a:xfrm>
            <a:off x="640080" y="1920240"/>
            <a:ext cx="3429000" cy="3108960"/>
          </a:xfrm>
          <a:prstGeom prst="roundRect">
            <a:avLst>
              <a:gd name="adj" fmla="val 3529"/>
            </a:avLst>
          </a:prstGeom>
          <a:solidFill>
            <a:srgbClr val="EEEFF8"/>
          </a:solidFill>
          <a:ln/>
        </p:spPr>
      </p:sp>
      <p:sp>
        <p:nvSpPr>
          <p:cNvPr id="4" name="Text 2"/>
          <p:cNvSpPr txBox="1"/>
          <p:nvPr/>
        </p:nvSpPr>
        <p:spPr>
          <a:xfrm>
            <a:off x="914400" y="2194560"/>
            <a:ext cx="2880360" cy="548640"/>
          </a:xfrm>
          <a:prstGeom prst="rect">
            <a:avLst/>
          </a:prstGeom>
          <a:noFill/>
          <a:ln/>
        </p:spPr>
        <p:txBody>
          <a:bodyPr wrap="square" lIns="0" tIns="0" rIns="0" bIns="0" rtlCol="0" anchor="ctr"/>
          <a:lstStyle/>
          <a:p>
            <a:pPr indent="0" marL="0">
              <a:buNone/>
            </a:pPr>
            <a:r>
              <a:rPr lang="en-US" sz="2200" b="1" dirty="0">
                <a:solidFill>
                  <a:srgbClr val="5B4BDB"/>
                </a:solidFill>
                <a:latin typeface="Georgia" pitchFamily="34" charset="0"/>
                <a:ea typeface="Georgia" pitchFamily="34" charset="-122"/>
                <a:cs typeface="Georgia" pitchFamily="34" charset="-120"/>
              </a:rPr>
              <a:t>Recibe</a:t>
            </a:r>
            <a:endParaRPr lang="en-US" sz="2200" dirty="0"/>
          </a:p>
        </p:txBody>
      </p:sp>
      <p:sp>
        <p:nvSpPr>
          <p:cNvPr id="5" name="Text 3"/>
          <p:cNvSpPr txBox="1"/>
          <p:nvPr/>
        </p:nvSpPr>
        <p:spPr>
          <a:xfrm>
            <a:off x="914400"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Lotes de referencias con título, año y resumen</a:t>
            </a:r>
            <a:endParaRPr lang="en-US" sz="1800" dirty="0"/>
          </a:p>
        </p:txBody>
      </p:sp>
      <p:sp>
        <p:nvSpPr>
          <p:cNvPr id="6" name="Shape 4"/>
          <p:cNvSpPr/>
          <p:nvPr/>
        </p:nvSpPr>
        <p:spPr>
          <a:xfrm>
            <a:off x="4370832" y="1920240"/>
            <a:ext cx="3429000" cy="3108960"/>
          </a:xfrm>
          <a:prstGeom prst="roundRect">
            <a:avLst>
              <a:gd name="adj" fmla="val 3529"/>
            </a:avLst>
          </a:prstGeom>
          <a:solidFill>
            <a:srgbClr val="E6F2F0"/>
          </a:solidFill>
          <a:ln/>
        </p:spPr>
      </p:sp>
      <p:sp>
        <p:nvSpPr>
          <p:cNvPr id="7" name="Text 5"/>
          <p:cNvSpPr txBox="1"/>
          <p:nvPr/>
        </p:nvSpPr>
        <p:spPr>
          <a:xfrm>
            <a:off x="4645152" y="2194560"/>
            <a:ext cx="2880360" cy="548640"/>
          </a:xfrm>
          <a:prstGeom prst="rect">
            <a:avLst/>
          </a:prstGeom>
          <a:noFill/>
          <a:ln/>
        </p:spPr>
        <p:txBody>
          <a:bodyPr wrap="square" lIns="0" tIns="0" rIns="0" bIns="0" rtlCol="0" anchor="ctr"/>
          <a:lstStyle/>
          <a:p>
            <a:pPr indent="0" marL="0">
              <a:buNone/>
            </a:pPr>
            <a:r>
              <a:rPr lang="en-US" sz="2200" b="1" dirty="0">
                <a:solidFill>
                  <a:srgbClr val="0D9488"/>
                </a:solidFill>
                <a:latin typeface="Georgia" pitchFamily="34" charset="0"/>
                <a:ea typeface="Georgia" pitchFamily="34" charset="-122"/>
                <a:cs typeface="Georgia" pitchFamily="34" charset="-120"/>
              </a:rPr>
              <a:t>Procesa</a:t>
            </a:r>
            <a:endParaRPr lang="en-US" sz="2200" dirty="0"/>
          </a:p>
        </p:txBody>
      </p:sp>
      <p:sp>
        <p:nvSpPr>
          <p:cNvPr id="8" name="Text 6"/>
          <p:cNvSpPr txBox="1"/>
          <p:nvPr/>
        </p:nvSpPr>
        <p:spPr>
          <a:xfrm>
            <a:off x="4645152"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Deduplica en código y la IA sugiere pertinencia</a:t>
            </a:r>
            <a:endParaRPr lang="en-US" sz="1800" dirty="0"/>
          </a:p>
        </p:txBody>
      </p:sp>
      <p:sp>
        <p:nvSpPr>
          <p:cNvPr id="9" name="Shape 7"/>
          <p:cNvSpPr/>
          <p:nvPr/>
        </p:nvSpPr>
        <p:spPr>
          <a:xfrm>
            <a:off x="8101584" y="1920240"/>
            <a:ext cx="3429000" cy="3108960"/>
          </a:xfrm>
          <a:prstGeom prst="roundRect">
            <a:avLst>
              <a:gd name="adj" fmla="val 3529"/>
            </a:avLst>
          </a:prstGeom>
          <a:solidFill>
            <a:srgbClr val="EEEFF8"/>
          </a:solidFill>
          <a:ln/>
        </p:spPr>
      </p:sp>
      <p:sp>
        <p:nvSpPr>
          <p:cNvPr id="10" name="Text 8"/>
          <p:cNvSpPr txBox="1"/>
          <p:nvPr/>
        </p:nvSpPr>
        <p:spPr>
          <a:xfrm>
            <a:off x="8375904" y="2194560"/>
            <a:ext cx="2880360" cy="548640"/>
          </a:xfrm>
          <a:prstGeom prst="rect">
            <a:avLst/>
          </a:prstGeom>
          <a:noFill/>
          <a:ln/>
        </p:spPr>
        <p:txBody>
          <a:bodyPr wrap="square" lIns="0" tIns="0" rIns="0" bIns="0" rtlCol="0" anchor="ctr"/>
          <a:lstStyle/>
          <a:p>
            <a:pPr indent="0" marL="0">
              <a:buNone/>
            </a:pPr>
            <a:r>
              <a:rPr lang="en-US" sz="2200" b="1" dirty="0">
                <a:solidFill>
                  <a:srgbClr val="5B4BDB"/>
                </a:solidFill>
                <a:latin typeface="Georgia" pitchFamily="34" charset="0"/>
                <a:ea typeface="Georgia" pitchFamily="34" charset="-122"/>
                <a:cs typeface="Georgia" pitchFamily="34" charset="-120"/>
              </a:rPr>
              <a:t>Entrega</a:t>
            </a:r>
            <a:endParaRPr lang="en-US" sz="2200" dirty="0"/>
          </a:p>
        </p:txBody>
      </p:sp>
      <p:sp>
        <p:nvSpPr>
          <p:cNvPr id="11" name="Text 9"/>
          <p:cNvSpPr txBox="1"/>
          <p:nvPr/>
        </p:nvSpPr>
        <p:spPr>
          <a:xfrm>
            <a:off x="8375904"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Colección, pendientes y una síntesis comprobada</a:t>
            </a:r>
            <a:endParaRPr lang="en-US" sz="1800" dirty="0"/>
          </a:p>
        </p:txBody>
      </p:sp>
      <p:sp>
        <p:nvSpPr>
          <p:cNvPr id="12" name="Text 10"/>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13" name="Text 11"/>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Cómo funciona</a:t>
            </a:r>
            <a:endParaRPr lang="en-US" sz="3200" dirty="0"/>
          </a:p>
        </p:txBody>
      </p:sp>
      <p:sp>
        <p:nvSpPr>
          <p:cNvPr id="3" name="Shape 1"/>
          <p:cNvSpPr/>
          <p:nvPr/>
        </p:nvSpPr>
        <p:spPr>
          <a:xfrm>
            <a:off x="640080" y="2103120"/>
            <a:ext cx="2514600" cy="2834640"/>
          </a:xfrm>
          <a:prstGeom prst="roundRect">
            <a:avLst>
              <a:gd name="adj" fmla="val 4364"/>
            </a:avLst>
          </a:prstGeom>
          <a:solidFill>
            <a:srgbClr val="EEEFF8"/>
          </a:solidFill>
          <a:ln/>
        </p:spPr>
      </p:sp>
      <p:sp>
        <p:nvSpPr>
          <p:cNvPr id="4" name="Shape 2"/>
          <p:cNvSpPr/>
          <p:nvPr/>
        </p:nvSpPr>
        <p:spPr>
          <a:xfrm>
            <a:off x="914400" y="2331720"/>
            <a:ext cx="685800" cy="685800"/>
          </a:xfrm>
          <a:prstGeom prst="ellipse">
            <a:avLst/>
          </a:prstGeom>
          <a:solidFill>
            <a:srgbClr val="5B4BDB"/>
          </a:solidFill>
          <a:ln/>
        </p:spPr>
      </p:sp>
      <p:sp>
        <p:nvSpPr>
          <p:cNvPr id="5" name="Text 3"/>
          <p:cNvSpPr txBox="1"/>
          <p:nvPr/>
        </p:nvSpPr>
        <p:spPr>
          <a:xfrm>
            <a:off x="91440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6" name="Text 4"/>
          <p:cNvSpPr txBox="1"/>
          <p:nvPr/>
        </p:nvSpPr>
        <p:spPr>
          <a:xfrm>
            <a:off x="896112" y="3200400"/>
            <a:ext cx="2011680" cy="548640"/>
          </a:xfrm>
          <a:prstGeom prst="rect">
            <a:avLst/>
          </a:prstGeom>
          <a:noFill/>
          <a:ln/>
        </p:spPr>
        <p:txBody>
          <a:bodyPr wrap="square" lIns="0" tIns="0" rIns="0" bIns="0" rtlCol="0" anchor="ctr"/>
          <a:lstStyle/>
          <a:p>
            <a:pPr indent="0" marL="0">
              <a:buNone/>
            </a:pPr>
            <a:r>
              <a:rPr lang="en-US" sz="1900" b="1" dirty="0">
                <a:solidFill>
                  <a:srgbClr val="1C1A17"/>
                </a:solidFill>
                <a:latin typeface="Georgia" pitchFamily="34" charset="0"/>
                <a:ea typeface="Georgia" pitchFamily="34" charset="-122"/>
                <a:cs typeface="Georgia" pitchFamily="34" charset="-120"/>
              </a:rPr>
              <a:t>Criterios</a:t>
            </a:r>
            <a:endParaRPr lang="en-US" sz="1900" dirty="0"/>
          </a:p>
        </p:txBody>
      </p:sp>
      <p:sp>
        <p:nvSpPr>
          <p:cNvPr id="7" name="Text 5"/>
          <p:cNvSpPr txBox="1"/>
          <p:nvPr/>
        </p:nvSpPr>
        <p:spPr>
          <a:xfrm>
            <a:off x="896112" y="3749040"/>
            <a:ext cx="205740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La persona fija pregunta y criterios</a:t>
            </a:r>
            <a:endParaRPr lang="en-US" sz="1600" dirty="0"/>
          </a:p>
        </p:txBody>
      </p:sp>
      <p:sp>
        <p:nvSpPr>
          <p:cNvPr id="8" name="Shape 6"/>
          <p:cNvSpPr/>
          <p:nvPr/>
        </p:nvSpPr>
        <p:spPr>
          <a:xfrm>
            <a:off x="3429000" y="2103120"/>
            <a:ext cx="2514600" cy="2834640"/>
          </a:xfrm>
          <a:prstGeom prst="roundRect">
            <a:avLst>
              <a:gd name="adj" fmla="val 4364"/>
            </a:avLst>
          </a:prstGeom>
          <a:solidFill>
            <a:srgbClr val="EEEFF8"/>
          </a:solidFill>
          <a:ln/>
        </p:spPr>
      </p:sp>
      <p:sp>
        <p:nvSpPr>
          <p:cNvPr id="9" name="Shape 7"/>
          <p:cNvSpPr/>
          <p:nvPr/>
        </p:nvSpPr>
        <p:spPr>
          <a:xfrm>
            <a:off x="3703320" y="2331720"/>
            <a:ext cx="685800" cy="685800"/>
          </a:xfrm>
          <a:prstGeom prst="ellipse">
            <a:avLst/>
          </a:prstGeom>
          <a:solidFill>
            <a:srgbClr val="5B4BDB"/>
          </a:solidFill>
          <a:ln/>
        </p:spPr>
      </p:sp>
      <p:sp>
        <p:nvSpPr>
          <p:cNvPr id="10" name="Text 8"/>
          <p:cNvSpPr txBox="1"/>
          <p:nvPr/>
        </p:nvSpPr>
        <p:spPr>
          <a:xfrm>
            <a:off x="370332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1" name="Text 9"/>
          <p:cNvSpPr txBox="1"/>
          <p:nvPr/>
        </p:nvSpPr>
        <p:spPr>
          <a:xfrm>
            <a:off x="3685032" y="3200400"/>
            <a:ext cx="2011680" cy="548640"/>
          </a:xfrm>
          <a:prstGeom prst="rect">
            <a:avLst/>
          </a:prstGeom>
          <a:noFill/>
          <a:ln/>
        </p:spPr>
        <p:txBody>
          <a:bodyPr wrap="square" lIns="0" tIns="0" rIns="0" bIns="0" rtlCol="0" anchor="ctr"/>
          <a:lstStyle/>
          <a:p>
            <a:pPr indent="0" marL="0">
              <a:buNone/>
            </a:pPr>
            <a:r>
              <a:rPr lang="en-US" sz="1900" b="1" dirty="0">
                <a:solidFill>
                  <a:srgbClr val="1C1A17"/>
                </a:solidFill>
                <a:latin typeface="Georgia" pitchFamily="34" charset="0"/>
                <a:ea typeface="Georgia" pitchFamily="34" charset="-122"/>
                <a:cs typeface="Georgia" pitchFamily="34" charset="-120"/>
              </a:rPr>
              <a:t>Deduplica</a:t>
            </a:r>
            <a:endParaRPr lang="en-US" sz="1900" dirty="0"/>
          </a:p>
        </p:txBody>
      </p:sp>
      <p:sp>
        <p:nvSpPr>
          <p:cNvPr id="12" name="Text 10"/>
          <p:cNvSpPr txBox="1"/>
          <p:nvPr/>
        </p:nvSpPr>
        <p:spPr>
          <a:xfrm>
            <a:off x="3685032" y="3749040"/>
            <a:ext cx="205740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Un programa compara en código, no el modelo</a:t>
            </a:r>
            <a:endParaRPr lang="en-US" sz="1600" dirty="0"/>
          </a:p>
        </p:txBody>
      </p:sp>
      <p:sp>
        <p:nvSpPr>
          <p:cNvPr id="13" name="Shape 11"/>
          <p:cNvSpPr/>
          <p:nvPr/>
        </p:nvSpPr>
        <p:spPr>
          <a:xfrm>
            <a:off x="6217920" y="2103120"/>
            <a:ext cx="2514600" cy="2834640"/>
          </a:xfrm>
          <a:prstGeom prst="roundRect">
            <a:avLst>
              <a:gd name="adj" fmla="val 4364"/>
            </a:avLst>
          </a:prstGeom>
          <a:solidFill>
            <a:srgbClr val="EEEFF8"/>
          </a:solidFill>
          <a:ln/>
        </p:spPr>
      </p:sp>
      <p:sp>
        <p:nvSpPr>
          <p:cNvPr id="14" name="Shape 12"/>
          <p:cNvSpPr/>
          <p:nvPr/>
        </p:nvSpPr>
        <p:spPr>
          <a:xfrm>
            <a:off x="6492240" y="2331720"/>
            <a:ext cx="685800" cy="685800"/>
          </a:xfrm>
          <a:prstGeom prst="ellipse">
            <a:avLst/>
          </a:prstGeom>
          <a:solidFill>
            <a:srgbClr val="5B4BDB"/>
          </a:solidFill>
          <a:ln/>
        </p:spPr>
      </p:sp>
      <p:sp>
        <p:nvSpPr>
          <p:cNvPr id="15" name="Text 13"/>
          <p:cNvSpPr txBox="1"/>
          <p:nvPr/>
        </p:nvSpPr>
        <p:spPr>
          <a:xfrm>
            <a:off x="649224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6" name="Text 14"/>
          <p:cNvSpPr txBox="1"/>
          <p:nvPr/>
        </p:nvSpPr>
        <p:spPr>
          <a:xfrm>
            <a:off x="6473952" y="3200400"/>
            <a:ext cx="2011680" cy="548640"/>
          </a:xfrm>
          <a:prstGeom prst="rect">
            <a:avLst/>
          </a:prstGeom>
          <a:noFill/>
          <a:ln/>
        </p:spPr>
        <p:txBody>
          <a:bodyPr wrap="square" lIns="0" tIns="0" rIns="0" bIns="0" rtlCol="0" anchor="ctr"/>
          <a:lstStyle/>
          <a:p>
            <a:pPr indent="0" marL="0">
              <a:buNone/>
            </a:pPr>
            <a:r>
              <a:rPr lang="en-US" sz="1900" b="1" dirty="0">
                <a:solidFill>
                  <a:srgbClr val="1C1A17"/>
                </a:solidFill>
                <a:latin typeface="Georgia" pitchFamily="34" charset="0"/>
                <a:ea typeface="Georgia" pitchFamily="34" charset="-122"/>
                <a:cs typeface="Georgia" pitchFamily="34" charset="-120"/>
              </a:rPr>
              <a:t>La IA sugiere</a:t>
            </a:r>
            <a:endParaRPr lang="en-US" sz="1900" dirty="0"/>
          </a:p>
        </p:txBody>
      </p:sp>
      <p:sp>
        <p:nvSpPr>
          <p:cNvPr id="17" name="Text 15"/>
          <p:cNvSpPr txBox="1"/>
          <p:nvPr/>
        </p:nvSpPr>
        <p:spPr>
          <a:xfrm>
            <a:off x="6473952" y="3749040"/>
            <a:ext cx="205740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Propone incluir o excluir y cita el resumen</a:t>
            </a:r>
            <a:endParaRPr lang="en-US" sz="1600" dirty="0"/>
          </a:p>
        </p:txBody>
      </p:sp>
      <p:sp>
        <p:nvSpPr>
          <p:cNvPr id="18" name="Shape 16"/>
          <p:cNvSpPr/>
          <p:nvPr/>
        </p:nvSpPr>
        <p:spPr>
          <a:xfrm>
            <a:off x="9006840" y="2103120"/>
            <a:ext cx="2514600" cy="2834640"/>
          </a:xfrm>
          <a:prstGeom prst="roundRect">
            <a:avLst>
              <a:gd name="adj" fmla="val 4364"/>
            </a:avLst>
          </a:prstGeom>
          <a:solidFill>
            <a:srgbClr val="EEEFF8"/>
          </a:solidFill>
          <a:ln/>
        </p:spPr>
      </p:sp>
      <p:sp>
        <p:nvSpPr>
          <p:cNvPr id="19" name="Shape 17"/>
          <p:cNvSpPr/>
          <p:nvPr/>
        </p:nvSpPr>
        <p:spPr>
          <a:xfrm>
            <a:off x="9281160" y="2331720"/>
            <a:ext cx="685800" cy="685800"/>
          </a:xfrm>
          <a:prstGeom prst="ellipse">
            <a:avLst/>
          </a:prstGeom>
          <a:solidFill>
            <a:srgbClr val="0D9488"/>
          </a:solidFill>
          <a:ln/>
        </p:spPr>
      </p:sp>
      <p:sp>
        <p:nvSpPr>
          <p:cNvPr id="20" name="Text 18"/>
          <p:cNvSpPr txBox="1"/>
          <p:nvPr/>
        </p:nvSpPr>
        <p:spPr>
          <a:xfrm>
            <a:off x="928116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1" name="Text 19"/>
          <p:cNvSpPr txBox="1"/>
          <p:nvPr/>
        </p:nvSpPr>
        <p:spPr>
          <a:xfrm>
            <a:off x="9262872" y="3200400"/>
            <a:ext cx="2011680" cy="548640"/>
          </a:xfrm>
          <a:prstGeom prst="rect">
            <a:avLst/>
          </a:prstGeom>
          <a:noFill/>
          <a:ln/>
        </p:spPr>
        <p:txBody>
          <a:bodyPr wrap="square" lIns="0" tIns="0" rIns="0" bIns="0" rtlCol="0" anchor="ctr"/>
          <a:lstStyle/>
          <a:p>
            <a:pPr indent="0" marL="0">
              <a:buNone/>
            </a:pPr>
            <a:r>
              <a:rPr lang="en-US" sz="1900" b="1" dirty="0">
                <a:solidFill>
                  <a:srgbClr val="1C1A17"/>
                </a:solidFill>
                <a:latin typeface="Georgia" pitchFamily="34" charset="0"/>
                <a:ea typeface="Georgia" pitchFamily="34" charset="-122"/>
                <a:cs typeface="Georgia" pitchFamily="34" charset="-120"/>
              </a:rPr>
              <a:t>Decide</a:t>
            </a:r>
            <a:endParaRPr lang="en-US" sz="1900" dirty="0"/>
          </a:p>
        </p:txBody>
      </p:sp>
      <p:sp>
        <p:nvSpPr>
          <p:cNvPr id="22" name="Text 20"/>
          <p:cNvSpPr txBox="1"/>
          <p:nvPr/>
        </p:nvSpPr>
        <p:spPr>
          <a:xfrm>
            <a:off x="9262872" y="3749040"/>
            <a:ext cx="205740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La persona aprueba y firma la decisión</a:t>
            </a:r>
            <a:endParaRPr lang="en-US" sz="1600" dirty="0"/>
          </a:p>
        </p:txBody>
      </p:sp>
      <p:sp>
        <p:nvSpPr>
          <p:cNvPr id="23" name="Text 21"/>
          <p:cNvSpPr txBox="1"/>
          <p:nvPr/>
        </p:nvSpPr>
        <p:spPr>
          <a:xfrm>
            <a:off x="640080" y="5212080"/>
            <a:ext cx="10881360" cy="457200"/>
          </a:xfrm>
          <a:prstGeom prst="rect">
            <a:avLst/>
          </a:prstGeom>
          <a:noFill/>
          <a:ln/>
        </p:spPr>
        <p:txBody>
          <a:bodyPr wrap="square" lIns="0" tIns="0" rIns="0" bIns="0" rtlCol="0" anchor="ctr"/>
          <a:lstStyle/>
          <a:p>
            <a:pPr algn="ctr" indent="0" marL="0">
              <a:buNone/>
            </a:pPr>
            <a:r>
              <a:rPr lang="en-US" sz="1800" i="1" dirty="0">
                <a:solidFill>
                  <a:srgbClr val="0D9488"/>
                </a:solidFill>
                <a:latin typeface="Calibri" pitchFamily="34" charset="0"/>
                <a:ea typeface="Calibri" pitchFamily="34" charset="-122"/>
                <a:cs typeface="Calibri" pitchFamily="34" charset="-120"/>
              </a:rPr>
              <a:t>El modelo propone. Nosotros decidimos.</a:t>
            </a:r>
            <a:endParaRPr lang="en-US" sz="1800" dirty="0"/>
          </a:p>
        </p:txBody>
      </p:sp>
      <p:sp>
        <p:nvSpPr>
          <p:cNvPr id="24" name="Text 2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25" name="Text 2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Evidencia</a:t>
            </a:r>
            <a:endParaRPr lang="en-US" sz="3200" dirty="0"/>
          </a:p>
        </p:txBody>
      </p:sp>
      <p:sp>
        <p:nvSpPr>
          <p:cNvPr id="3" name="Shape 1"/>
          <p:cNvSpPr/>
          <p:nvPr/>
        </p:nvSpPr>
        <p:spPr>
          <a:xfrm>
            <a:off x="640080" y="1920240"/>
            <a:ext cx="3429000" cy="3017520"/>
          </a:xfrm>
          <a:prstGeom prst="roundRect">
            <a:avLst>
              <a:gd name="adj" fmla="val 3636"/>
            </a:avLst>
          </a:prstGeom>
          <a:solidFill>
            <a:srgbClr val="EEEFF8"/>
          </a:solidFill>
          <a:ln/>
        </p:spPr>
      </p:sp>
      <p:sp>
        <p:nvSpPr>
          <p:cNvPr id="4" name="Text 2"/>
          <p:cNvSpPr txBox="1"/>
          <p:nvPr/>
        </p:nvSpPr>
        <p:spPr>
          <a:xfrm>
            <a:off x="822960" y="2286000"/>
            <a:ext cx="3063240" cy="1097280"/>
          </a:xfrm>
          <a:prstGeom prst="rect">
            <a:avLst/>
          </a:prstGeom>
          <a:noFill/>
          <a:ln/>
        </p:spPr>
        <p:txBody>
          <a:bodyPr wrap="square" lIns="0" tIns="0" rIns="0" bIns="0" rtlCol="0" anchor="ctr"/>
          <a:lstStyle/>
          <a:p>
            <a:pPr algn="ctr" indent="0" marL="0">
              <a:buNone/>
            </a:pPr>
            <a:r>
              <a:rPr lang="en-US" sz="4600" b="1" dirty="0">
                <a:solidFill>
                  <a:srgbClr val="5B4BDB"/>
                </a:solidFill>
                <a:latin typeface="Georgia" pitchFamily="34" charset="0"/>
                <a:ea typeface="Georgia" pitchFamily="34" charset="-122"/>
                <a:cs typeface="Georgia" pitchFamily="34" charset="-120"/>
              </a:rPr>
              <a:t>20 → 18</a:t>
            </a:r>
            <a:endParaRPr lang="en-US" sz="4600" dirty="0"/>
          </a:p>
        </p:txBody>
      </p:sp>
      <p:sp>
        <p:nvSpPr>
          <p:cNvPr id="5" name="Text 3"/>
          <p:cNvSpPr txBox="1"/>
          <p:nvPr/>
        </p:nvSpPr>
        <p:spPr>
          <a:xfrm>
            <a:off x="914400" y="3566160"/>
            <a:ext cx="2880360" cy="1188720"/>
          </a:xfrm>
          <a:prstGeom prst="rect">
            <a:avLst/>
          </a:prstGeom>
          <a:noFill/>
          <a:ln/>
        </p:spPr>
        <p:txBody>
          <a:bodyPr wrap="square" lIns="0" tIns="0" rIns="0" bIns="0" rtlCol="0" anchor="t"/>
          <a:lstStyle/>
          <a:p>
            <a:pPr algn="ctr" indent="0" marL="0">
              <a:lnSpc>
                <a:spcPct val="110000"/>
              </a:lnSpc>
              <a:buNone/>
            </a:pPr>
            <a:r>
              <a:rPr lang="en-US" sz="1700" dirty="0">
                <a:solidFill>
                  <a:srgbClr val="1C1A17"/>
                </a:solidFill>
                <a:latin typeface="Calibri" pitchFamily="34" charset="0"/>
                <a:ea typeface="Calibri" pitchFamily="34" charset="-122"/>
                <a:cs typeface="Calibri" pitchFamily="34" charset="-120"/>
              </a:rPr>
              <a:t>Referencias importadas y únicas tras deduplicar</a:t>
            </a:r>
            <a:endParaRPr lang="en-US" sz="1700" dirty="0"/>
          </a:p>
        </p:txBody>
      </p:sp>
      <p:sp>
        <p:nvSpPr>
          <p:cNvPr id="6" name="Shape 4"/>
          <p:cNvSpPr/>
          <p:nvPr/>
        </p:nvSpPr>
        <p:spPr>
          <a:xfrm>
            <a:off x="4370832" y="1920240"/>
            <a:ext cx="3429000" cy="3017520"/>
          </a:xfrm>
          <a:prstGeom prst="roundRect">
            <a:avLst>
              <a:gd name="adj" fmla="val 3636"/>
            </a:avLst>
          </a:prstGeom>
          <a:solidFill>
            <a:srgbClr val="E6F2F0"/>
          </a:solidFill>
          <a:ln/>
        </p:spPr>
      </p:sp>
      <p:sp>
        <p:nvSpPr>
          <p:cNvPr id="7" name="Text 5"/>
          <p:cNvSpPr txBox="1"/>
          <p:nvPr/>
        </p:nvSpPr>
        <p:spPr>
          <a:xfrm>
            <a:off x="4553712" y="2286000"/>
            <a:ext cx="3063240" cy="1097280"/>
          </a:xfrm>
          <a:prstGeom prst="rect">
            <a:avLst/>
          </a:prstGeom>
          <a:noFill/>
          <a:ln/>
        </p:spPr>
        <p:txBody>
          <a:bodyPr wrap="square" lIns="0" tIns="0" rIns="0" bIns="0" rtlCol="0" anchor="ctr"/>
          <a:lstStyle/>
          <a:p>
            <a:pPr algn="ctr" indent="0" marL="0">
              <a:buNone/>
            </a:pPr>
            <a:r>
              <a:rPr lang="en-US" sz="4600" b="1" dirty="0">
                <a:solidFill>
                  <a:srgbClr val="0D9488"/>
                </a:solidFill>
                <a:latin typeface="Georgia" pitchFamily="34" charset="0"/>
                <a:ea typeface="Georgia" pitchFamily="34" charset="-122"/>
                <a:cs typeface="Georgia" pitchFamily="34" charset="-120"/>
              </a:rPr>
              <a:t>9 / 4 / 5</a:t>
            </a:r>
            <a:endParaRPr lang="en-US" sz="4600" dirty="0"/>
          </a:p>
        </p:txBody>
      </p:sp>
      <p:sp>
        <p:nvSpPr>
          <p:cNvPr id="8" name="Text 6"/>
          <p:cNvSpPr txBox="1"/>
          <p:nvPr/>
        </p:nvSpPr>
        <p:spPr>
          <a:xfrm>
            <a:off x="4645152" y="3566160"/>
            <a:ext cx="2880360" cy="1188720"/>
          </a:xfrm>
          <a:prstGeom prst="rect">
            <a:avLst/>
          </a:prstGeom>
          <a:noFill/>
          <a:ln/>
        </p:spPr>
        <p:txBody>
          <a:bodyPr wrap="square" lIns="0" tIns="0" rIns="0" bIns="0" rtlCol="0" anchor="t"/>
          <a:lstStyle/>
          <a:p>
            <a:pPr algn="ctr" indent="0" marL="0">
              <a:lnSpc>
                <a:spcPct val="110000"/>
              </a:lnSpc>
              <a:buNone/>
            </a:pPr>
            <a:r>
              <a:rPr lang="en-US" sz="1700" dirty="0">
                <a:solidFill>
                  <a:srgbClr val="1C1A17"/>
                </a:solidFill>
                <a:latin typeface="Calibri" pitchFamily="34" charset="0"/>
                <a:ea typeface="Calibri" pitchFamily="34" charset="-122"/>
                <a:cs typeface="Calibri" pitchFamily="34" charset="-120"/>
              </a:rPr>
              <a:t>Aprobadas, rechazadas y pendientes</a:t>
            </a:r>
            <a:endParaRPr lang="en-US" sz="1700" dirty="0"/>
          </a:p>
        </p:txBody>
      </p:sp>
      <p:sp>
        <p:nvSpPr>
          <p:cNvPr id="9" name="Shape 7"/>
          <p:cNvSpPr/>
          <p:nvPr/>
        </p:nvSpPr>
        <p:spPr>
          <a:xfrm>
            <a:off x="8101584" y="1920240"/>
            <a:ext cx="3429000" cy="3017520"/>
          </a:xfrm>
          <a:prstGeom prst="roundRect">
            <a:avLst>
              <a:gd name="adj" fmla="val 3636"/>
            </a:avLst>
          </a:prstGeom>
          <a:solidFill>
            <a:srgbClr val="EEEFF8"/>
          </a:solidFill>
          <a:ln/>
        </p:spPr>
      </p:sp>
      <p:sp>
        <p:nvSpPr>
          <p:cNvPr id="10" name="Text 8"/>
          <p:cNvSpPr txBox="1"/>
          <p:nvPr/>
        </p:nvSpPr>
        <p:spPr>
          <a:xfrm>
            <a:off x="8284464" y="2286000"/>
            <a:ext cx="3063240" cy="1097280"/>
          </a:xfrm>
          <a:prstGeom prst="rect">
            <a:avLst/>
          </a:prstGeom>
          <a:noFill/>
          <a:ln/>
        </p:spPr>
        <p:txBody>
          <a:bodyPr wrap="square" lIns="0" tIns="0" rIns="0" bIns="0" rtlCol="0" anchor="ctr"/>
          <a:lstStyle/>
          <a:p>
            <a:pPr algn="ctr" indent="0" marL="0">
              <a:buNone/>
            </a:pPr>
            <a:r>
              <a:rPr lang="en-US" sz="4600" b="1" dirty="0">
                <a:solidFill>
                  <a:srgbClr val="5B4BDB"/>
                </a:solidFill>
                <a:latin typeface="Georgia" pitchFamily="34" charset="0"/>
                <a:ea typeface="Georgia" pitchFamily="34" charset="-122"/>
                <a:cs typeface="Georgia" pitchFamily="34" charset="-120"/>
              </a:rPr>
              <a:t>1</a:t>
            </a:r>
            <a:endParaRPr lang="en-US" sz="4600" dirty="0"/>
          </a:p>
        </p:txBody>
      </p:sp>
      <p:sp>
        <p:nvSpPr>
          <p:cNvPr id="11" name="Text 9"/>
          <p:cNvSpPr txBox="1"/>
          <p:nvPr/>
        </p:nvSpPr>
        <p:spPr>
          <a:xfrm>
            <a:off x="8375904" y="3566160"/>
            <a:ext cx="2880360" cy="1188720"/>
          </a:xfrm>
          <a:prstGeom prst="rect">
            <a:avLst/>
          </a:prstGeom>
          <a:noFill/>
          <a:ln/>
        </p:spPr>
        <p:txBody>
          <a:bodyPr wrap="square" lIns="0" tIns="0" rIns="0" bIns="0" rtlCol="0" anchor="t"/>
          <a:lstStyle/>
          <a:p>
            <a:pPr algn="ctr" indent="0" marL="0">
              <a:lnSpc>
                <a:spcPct val="110000"/>
              </a:lnSpc>
              <a:buNone/>
            </a:pPr>
            <a:r>
              <a:rPr lang="en-US" sz="1700" dirty="0">
                <a:solidFill>
                  <a:srgbClr val="1C1A17"/>
                </a:solidFill>
                <a:latin typeface="Calibri" pitchFamily="34" charset="0"/>
                <a:ea typeface="Calibri" pitchFamily="34" charset="-122"/>
                <a:cs typeface="Calibri" pitchFamily="34" charset="-120"/>
              </a:rPr>
              <a:t>Cita verificada contra el texto completo, con página</a:t>
            </a:r>
            <a:endParaRPr lang="en-US" sz="1700" dirty="0"/>
          </a:p>
        </p:txBody>
      </p:sp>
      <p:sp>
        <p:nvSpPr>
          <p:cNvPr id="12" name="Text 10"/>
          <p:cNvSpPr txBox="1"/>
          <p:nvPr/>
        </p:nvSpPr>
        <p:spPr>
          <a:xfrm>
            <a:off x="640080" y="5212080"/>
            <a:ext cx="10881360" cy="457200"/>
          </a:xfrm>
          <a:prstGeom prst="rect">
            <a:avLst/>
          </a:prstGeom>
          <a:noFill/>
          <a:ln/>
        </p:spPr>
        <p:txBody>
          <a:bodyPr wrap="square" lIns="0" tIns="0" rIns="0" bIns="0" rtlCol="0" anchor="ctr"/>
          <a:lstStyle/>
          <a:p>
            <a:pPr algn="ctr" indent="0" marL="0">
              <a:buNone/>
            </a:pPr>
            <a:r>
              <a:rPr lang="en-US" sz="1700" i="1" dirty="0">
                <a:solidFill>
                  <a:srgbClr val="6B645C"/>
                </a:solidFill>
                <a:latin typeface="Calibri" pitchFamily="34" charset="0"/>
                <a:ea typeface="Calibri" pitchFamily="34" charset="-122"/>
                <a:cs typeface="Calibri" pitchFamily="34" charset="-120"/>
              </a:rPr>
              <a:t>Separamos lo comprobado de lo que todavía es una propuesta.</a:t>
            </a:r>
            <a:endParaRPr lang="en-US" sz="1700" dirty="0"/>
          </a:p>
        </p:txBody>
      </p:sp>
      <p:sp>
        <p:nvSpPr>
          <p:cNvPr id="13" name="Text 11"/>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14" name="Text 12"/>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Límites y uso responsable</a:t>
            </a:r>
            <a:endParaRPr lang="en-US" sz="3200" dirty="0"/>
          </a:p>
        </p:txBody>
      </p:sp>
      <p:sp>
        <p:nvSpPr>
          <p:cNvPr id="3" name="Shape 1"/>
          <p:cNvSpPr/>
          <p:nvPr/>
        </p:nvSpPr>
        <p:spPr>
          <a:xfrm>
            <a:off x="640080" y="1920240"/>
            <a:ext cx="3429000" cy="3108960"/>
          </a:xfrm>
          <a:prstGeom prst="roundRect">
            <a:avLst>
              <a:gd name="adj" fmla="val 3529"/>
            </a:avLst>
          </a:prstGeom>
          <a:solidFill>
            <a:srgbClr val="EEEFF8"/>
          </a:solidFill>
          <a:ln/>
        </p:spPr>
      </p:sp>
      <p:sp>
        <p:nvSpPr>
          <p:cNvPr id="4" name="Text 2"/>
          <p:cNvSpPr txBox="1"/>
          <p:nvPr/>
        </p:nvSpPr>
        <p:spPr>
          <a:xfrm>
            <a:off x="914400" y="2194560"/>
            <a:ext cx="2880360" cy="548640"/>
          </a:xfrm>
          <a:prstGeom prst="rect">
            <a:avLst/>
          </a:prstGeom>
          <a:noFill/>
          <a:ln/>
        </p:spPr>
        <p:txBody>
          <a:bodyPr wrap="square" lIns="0" tIns="0" rIns="0" bIns="0" rtlCol="0" anchor="ctr"/>
          <a:lstStyle/>
          <a:p>
            <a:pPr indent="0" marL="0">
              <a:buNone/>
            </a:pPr>
            <a:r>
              <a:rPr lang="en-US" sz="2100" b="1" dirty="0">
                <a:solidFill>
                  <a:srgbClr val="5B4BDB"/>
                </a:solidFill>
                <a:latin typeface="Georgia" pitchFamily="34" charset="0"/>
                <a:ea typeface="Georgia" pitchFamily="34" charset="-122"/>
                <a:cs typeface="Georgia" pitchFamily="34" charset="-120"/>
              </a:rPr>
              <a:t>No sustituye</a:t>
            </a:r>
            <a:endParaRPr lang="en-US" sz="2100" dirty="0"/>
          </a:p>
        </p:txBody>
      </p:sp>
      <p:sp>
        <p:nvSpPr>
          <p:cNvPr id="5" name="Text 3"/>
          <p:cNvSpPr txBox="1"/>
          <p:nvPr/>
        </p:nvSpPr>
        <p:spPr>
          <a:xfrm>
            <a:off x="914400"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No es por sí mismo una revisión sistemática</a:t>
            </a:r>
            <a:endParaRPr lang="en-US" sz="1800" dirty="0"/>
          </a:p>
        </p:txBody>
      </p:sp>
      <p:sp>
        <p:nvSpPr>
          <p:cNvPr id="6" name="Shape 4"/>
          <p:cNvSpPr/>
          <p:nvPr/>
        </p:nvSpPr>
        <p:spPr>
          <a:xfrm>
            <a:off x="4370832" y="1920240"/>
            <a:ext cx="3429000" cy="3108960"/>
          </a:xfrm>
          <a:prstGeom prst="roundRect">
            <a:avLst>
              <a:gd name="adj" fmla="val 3529"/>
            </a:avLst>
          </a:prstGeom>
          <a:solidFill>
            <a:srgbClr val="E6F2F0"/>
          </a:solidFill>
          <a:ln/>
        </p:spPr>
      </p:sp>
      <p:sp>
        <p:nvSpPr>
          <p:cNvPr id="7" name="Text 5"/>
          <p:cNvSpPr txBox="1"/>
          <p:nvPr/>
        </p:nvSpPr>
        <p:spPr>
          <a:xfrm>
            <a:off x="4645152" y="2194560"/>
            <a:ext cx="2880360" cy="548640"/>
          </a:xfrm>
          <a:prstGeom prst="rect">
            <a:avLst/>
          </a:prstGeom>
          <a:noFill/>
          <a:ln/>
        </p:spPr>
        <p:txBody>
          <a:bodyPr wrap="square" lIns="0" tIns="0" rIns="0" bIns="0" rtlCol="0" anchor="ctr"/>
          <a:lstStyle/>
          <a:p>
            <a:pPr indent="0" marL="0">
              <a:buNone/>
            </a:pPr>
            <a:r>
              <a:rPr lang="en-US" sz="2100" b="1" dirty="0">
                <a:solidFill>
                  <a:srgbClr val="0D9488"/>
                </a:solidFill>
                <a:latin typeface="Georgia" pitchFamily="34" charset="0"/>
                <a:ea typeface="Georgia" pitchFamily="34" charset="-122"/>
                <a:cs typeface="Georgia" pitchFamily="34" charset="-120"/>
              </a:rPr>
              <a:t>Datos públicos</a:t>
            </a:r>
            <a:endParaRPr lang="en-US" sz="2100" dirty="0"/>
          </a:p>
        </p:txBody>
      </p:sp>
      <p:sp>
        <p:nvSpPr>
          <p:cNvPr id="8" name="Text 6"/>
          <p:cNvSpPr txBox="1"/>
          <p:nvPr/>
        </p:nvSpPr>
        <p:spPr>
          <a:xfrm>
            <a:off x="4645152"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Solo mostramos información pública</a:t>
            </a:r>
            <a:endParaRPr lang="en-US" sz="1800" dirty="0"/>
          </a:p>
        </p:txBody>
      </p:sp>
      <p:sp>
        <p:nvSpPr>
          <p:cNvPr id="9" name="Shape 7"/>
          <p:cNvSpPr/>
          <p:nvPr/>
        </p:nvSpPr>
        <p:spPr>
          <a:xfrm>
            <a:off x="8101584" y="1920240"/>
            <a:ext cx="3429000" cy="3108960"/>
          </a:xfrm>
          <a:prstGeom prst="roundRect">
            <a:avLst>
              <a:gd name="adj" fmla="val 3529"/>
            </a:avLst>
          </a:prstGeom>
          <a:solidFill>
            <a:srgbClr val="EEEFF8"/>
          </a:solidFill>
          <a:ln/>
        </p:spPr>
      </p:sp>
      <p:sp>
        <p:nvSpPr>
          <p:cNvPr id="10" name="Text 8"/>
          <p:cNvSpPr txBox="1"/>
          <p:nvPr/>
        </p:nvSpPr>
        <p:spPr>
          <a:xfrm>
            <a:off x="8375904" y="2194560"/>
            <a:ext cx="2880360" cy="548640"/>
          </a:xfrm>
          <a:prstGeom prst="rect">
            <a:avLst/>
          </a:prstGeom>
          <a:noFill/>
          <a:ln/>
        </p:spPr>
        <p:txBody>
          <a:bodyPr wrap="square" lIns="0" tIns="0" rIns="0" bIns="0" rtlCol="0" anchor="ctr"/>
          <a:lstStyle/>
          <a:p>
            <a:pPr indent="0" marL="0">
              <a:buNone/>
            </a:pPr>
            <a:r>
              <a:rPr lang="en-US" sz="2100" b="1" dirty="0">
                <a:solidFill>
                  <a:srgbClr val="5B4BDB"/>
                </a:solidFill>
                <a:latin typeface="Georgia" pitchFamily="34" charset="0"/>
                <a:ea typeface="Georgia" pitchFamily="34" charset="-122"/>
                <a:cs typeface="Georgia" pitchFamily="34" charset="-120"/>
              </a:rPr>
              <a:t>Siguiente paso</a:t>
            </a:r>
            <a:endParaRPr lang="en-US" sz="2100" dirty="0"/>
          </a:p>
        </p:txBody>
      </p:sp>
      <p:sp>
        <p:nvSpPr>
          <p:cNvPr id="11" name="Text 9"/>
          <p:cNvSpPr txBox="1"/>
          <p:nvPr/>
        </p:nvSpPr>
        <p:spPr>
          <a:xfrm>
            <a:off x="8375904"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Sumar una tercera fuente y llevarlo al aula virtual</a:t>
            </a:r>
            <a:endParaRPr lang="en-US" sz="1800" dirty="0"/>
          </a:p>
        </p:txBody>
      </p:sp>
      <p:sp>
        <p:nvSpPr>
          <p:cNvPr id="12" name="Text 10"/>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13" name="Text 11"/>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Demostración: la colección</a:t>
            </a:r>
            <a:endParaRPr lang="en-US" sz="3200" dirty="0"/>
          </a:p>
        </p:txBody>
      </p:sp>
      <p:pic>
        <p:nvPicPr>
          <p:cNvPr id="3" name="Image 0" descr="proyecto-final/capturas/captura_entrada.png">    </p:cNvPr>
          <p:cNvPicPr>
            <a:picLocks noChangeAspect="1"/>
          </p:cNvPicPr>
          <p:nvPr/>
        </p:nvPicPr>
        <p:blipFill>
          <a:blip r:embed="rId1"/>
          <a:srcRect l="0" r="0" t="0" b="0"/>
          <a:stretch/>
        </p:blipFill>
        <p:spPr>
          <a:xfrm>
            <a:off x="1691640" y="1371600"/>
            <a:ext cx="8805672" cy="4572000"/>
          </a:xfrm>
          <a:prstGeom prst="rect">
            <a:avLst/>
          </a:prstGeom>
        </p:spPr>
      </p:pic>
      <p:sp>
        <p:nvSpPr>
          <p:cNvPr id="4" name="Text 1"/>
          <p:cNvSpPr txBox="1"/>
          <p:nvPr/>
        </p:nvSpPr>
        <p:spPr>
          <a:xfrm>
            <a:off x="640080" y="5989320"/>
            <a:ext cx="10881360" cy="411480"/>
          </a:xfrm>
          <a:prstGeom prst="rect">
            <a:avLst/>
          </a:prstGeom>
          <a:noFill/>
          <a:ln/>
        </p:spPr>
        <p:txBody>
          <a:bodyPr wrap="square" lIns="0" tIns="0" rIns="0" bIns="0" rtlCol="0" anchor="ctr"/>
          <a:lstStyle/>
          <a:p>
            <a:pPr algn="ctr" indent="0" marL="0">
              <a:buNone/>
            </a:pPr>
            <a:r>
              <a:rPr lang="en-US" sz="1600" i="1" dirty="0">
                <a:solidFill>
                  <a:srgbClr val="6B645C"/>
                </a:solidFill>
                <a:latin typeface="Calibri" pitchFamily="34" charset="0"/>
                <a:ea typeface="Calibri" pitchFamily="34" charset="-122"/>
                <a:cs typeface="Calibri" pitchFamily="34" charset="-120"/>
              </a:rPr>
              <a:t>Cada referencia con su identificador, su estado y la decisión registrada</a:t>
            </a:r>
            <a:endParaRPr lang="en-US" sz="1600" dirty="0"/>
          </a:p>
        </p:txBody>
      </p:sp>
      <p:sp>
        <p:nvSpPr>
          <p:cNvPr id="5" name="Text 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6" name="Text 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Demostración: pendientes</a:t>
            </a:r>
            <a:endParaRPr lang="en-US" sz="3200" dirty="0"/>
          </a:p>
        </p:txBody>
      </p:sp>
      <p:pic>
        <p:nvPicPr>
          <p:cNvPr id="3" name="Image 0" descr="proyecto-final/capturas/captura_resultado.png">    </p:cNvPr>
          <p:cNvPicPr>
            <a:picLocks noChangeAspect="1"/>
          </p:cNvPicPr>
          <p:nvPr/>
        </p:nvPicPr>
        <p:blipFill>
          <a:blip r:embed="rId1"/>
          <a:srcRect l="0" r="0" t="0" b="0"/>
          <a:stretch/>
        </p:blipFill>
        <p:spPr>
          <a:xfrm>
            <a:off x="1691640" y="1371600"/>
            <a:ext cx="8805672" cy="4572000"/>
          </a:xfrm>
          <a:prstGeom prst="rect">
            <a:avLst/>
          </a:prstGeom>
        </p:spPr>
      </p:pic>
      <p:sp>
        <p:nvSpPr>
          <p:cNvPr id="4" name="Text 1"/>
          <p:cNvSpPr txBox="1"/>
          <p:nvPr/>
        </p:nvSpPr>
        <p:spPr>
          <a:xfrm>
            <a:off x="640080" y="5989320"/>
            <a:ext cx="10881360" cy="411480"/>
          </a:xfrm>
          <a:prstGeom prst="rect">
            <a:avLst/>
          </a:prstGeom>
          <a:noFill/>
          <a:ln/>
        </p:spPr>
        <p:txBody>
          <a:bodyPr wrap="square" lIns="0" tIns="0" rIns="0" bIns="0" rtlCol="0" anchor="ctr"/>
          <a:lstStyle/>
          <a:p>
            <a:pPr algn="ctr" indent="0" marL="0">
              <a:buNone/>
            </a:pPr>
            <a:r>
              <a:rPr lang="en-US" sz="1600" i="1" dirty="0">
                <a:solidFill>
                  <a:srgbClr val="6B645C"/>
                </a:solidFill>
                <a:latin typeface="Calibri" pitchFamily="34" charset="0"/>
                <a:ea typeface="Calibri" pitchFamily="34" charset="-122"/>
                <a:cs typeface="Calibri" pitchFamily="34" charset="-120"/>
              </a:rPr>
              <a:t>La IA sugiere y justifica; la decisión humana queda a la persona</a:t>
            </a:r>
            <a:endParaRPr lang="en-US" sz="1600" dirty="0"/>
          </a:p>
        </p:txBody>
      </p:sp>
      <p:sp>
        <p:nvSpPr>
          <p:cNvPr id="5" name="Text 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6" name="Text 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Demostración: el historial</a:t>
            </a:r>
            <a:endParaRPr lang="en-US" sz="3200" dirty="0"/>
          </a:p>
        </p:txBody>
      </p:sp>
      <p:pic>
        <p:nvPicPr>
          <p:cNvPr id="3" name="Image 0" descr="proyecto-final/capturas/captura_revision.png">    </p:cNvPr>
          <p:cNvPicPr>
            <a:picLocks noChangeAspect="1"/>
          </p:cNvPicPr>
          <p:nvPr/>
        </p:nvPicPr>
        <p:blipFill>
          <a:blip r:embed="rId1"/>
          <a:srcRect l="0" r="0" t="0" b="0"/>
          <a:stretch/>
        </p:blipFill>
        <p:spPr>
          <a:xfrm>
            <a:off x="1691640" y="1371600"/>
            <a:ext cx="8805672" cy="4572000"/>
          </a:xfrm>
          <a:prstGeom prst="rect">
            <a:avLst/>
          </a:prstGeom>
        </p:spPr>
      </p:pic>
      <p:sp>
        <p:nvSpPr>
          <p:cNvPr id="4" name="Text 1"/>
          <p:cNvSpPr txBox="1"/>
          <p:nvPr/>
        </p:nvSpPr>
        <p:spPr>
          <a:xfrm>
            <a:off x="640080" y="5989320"/>
            <a:ext cx="10881360" cy="411480"/>
          </a:xfrm>
          <a:prstGeom prst="rect">
            <a:avLst/>
          </a:prstGeom>
          <a:noFill/>
          <a:ln/>
        </p:spPr>
        <p:txBody>
          <a:bodyPr wrap="square" lIns="0" tIns="0" rIns="0" bIns="0" rtlCol="0" anchor="ctr"/>
          <a:lstStyle/>
          <a:p>
            <a:pPr algn="ctr" indent="0" marL="0">
              <a:buNone/>
            </a:pPr>
            <a:r>
              <a:rPr lang="en-US" sz="1600" i="1" dirty="0">
                <a:solidFill>
                  <a:srgbClr val="6B645C"/>
                </a:solidFill>
                <a:latin typeface="Calibri" pitchFamily="34" charset="0"/>
                <a:ea typeface="Calibri" pitchFamily="34" charset="-122"/>
                <a:cs typeface="Calibri" pitchFamily="34" charset="-120"/>
              </a:rPr>
              <a:t>Registro fechado de cada cambio; nada se borra</a:t>
            </a:r>
            <a:endParaRPr lang="en-US" sz="1600" dirty="0"/>
          </a:p>
        </p:txBody>
      </p:sp>
      <p:sp>
        <p:nvSpPr>
          <p:cNvPr id="5" name="Text 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6" name="Text 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5B4BDB">
              <a:alpha val="20000"/>
            </a:srgbClr>
          </a:solidFill>
          <a:ln/>
        </p:spPr>
      </p:sp>
      <p:sp>
        <p:nvSpPr>
          <p:cNvPr id="3" name="Text 1"/>
          <p:cNvSpPr txBox="1"/>
          <p:nvPr/>
        </p:nvSpPr>
        <p:spPr>
          <a:xfrm>
            <a:off x="731520" y="2011680"/>
            <a:ext cx="1051560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La decisión sigue siendo humana</a:t>
            </a:r>
            <a:endParaRPr lang="en-US" sz="3800" dirty="0"/>
          </a:p>
        </p:txBody>
      </p:sp>
      <p:sp>
        <p:nvSpPr>
          <p:cNvPr id="4" name="Text 2"/>
          <p:cNvSpPr txBox="1"/>
          <p:nvPr/>
        </p:nvSpPr>
        <p:spPr>
          <a:xfrm>
            <a:off x="731520" y="3200400"/>
            <a:ext cx="10058400" cy="731520"/>
          </a:xfrm>
          <a:prstGeom prst="rect">
            <a:avLst/>
          </a:prstGeom>
          <a:noFill/>
          <a:ln/>
        </p:spPr>
        <p:txBody>
          <a:bodyPr wrap="square" lIns="0" tIns="0" rIns="0" bIns="0" rtlCol="0" anchor="ctr"/>
          <a:lstStyle/>
          <a:p>
            <a:pPr indent="0" marL="0">
              <a:lnSpc>
                <a:spcPct val="110000"/>
              </a:lnSpc>
              <a:buNone/>
            </a:pPr>
            <a:r>
              <a:rPr lang="en-US" sz="2000" i="1" dirty="0">
                <a:solidFill>
                  <a:srgbClr val="FFC629"/>
                </a:solidFill>
                <a:latin typeface="Calibri" pitchFamily="34" charset="0"/>
                <a:ea typeface="Calibri" pitchFamily="34" charset="-122"/>
                <a:cs typeface="Calibri" pitchFamily="34" charset="-120"/>
              </a:rPr>
              <a:t>La revisión deja de envejecer sin control y el trabajo manual se reduce</a:t>
            </a:r>
            <a:endParaRPr lang="en-US" sz="2000" dirty="0"/>
          </a:p>
        </p:txBody>
      </p:sp>
      <p:sp>
        <p:nvSpPr>
          <p:cNvPr id="5" name="Text 3"/>
          <p:cNvSpPr txBox="1"/>
          <p:nvPr/>
        </p:nvSpPr>
        <p:spPr>
          <a:xfrm>
            <a:off x="731520" y="4389120"/>
            <a:ext cx="10515600" cy="1097280"/>
          </a:xfrm>
          <a:prstGeom prst="rect">
            <a:avLst/>
          </a:prstGeom>
          <a:noFill/>
          <a:ln/>
        </p:spPr>
        <p:txBody>
          <a:bodyPr wrap="square" lIns="0" tIns="0" rIns="0" bIns="0" rtlCol="0" anchor="ctr"/>
          <a:lstStyle/>
          <a:p>
            <a:pPr indent="0" marL="0">
              <a:lnSpc>
                <a:spcPct val="130000"/>
              </a:lnSpc>
              <a:buNone/>
            </a:pPr>
            <a:r>
              <a:rPr lang="en-US" sz="1800" dirty="0">
                <a:solidFill>
                  <a:srgbClr val="CADCFC"/>
                </a:solidFill>
                <a:latin typeface="Calibri" pitchFamily="34" charset="0"/>
                <a:ea typeface="Calibri" pitchFamily="34" charset="-122"/>
                <a:cs typeface="Calibri" pitchFamily="34" charset="-120"/>
              </a:rPr>
              <a:t>github.com/srbenitez/revision-viva-rag-demo</a:t>
            </a:r>
            <a:endParaRPr lang="en-US" sz="1800" dirty="0"/>
          </a:p>
          <a:p>
            <a:pPr indent="0" marL="0">
              <a:lnSpc>
                <a:spcPct val="130000"/>
              </a:lnSpc>
              <a:buNone/>
            </a:pPr>
            <a:r>
              <a:rPr lang="en-US" sz="1800" dirty="0">
                <a:solidFill>
                  <a:srgbClr val="FFFFFF"/>
                </a:solidFill>
                <a:latin typeface="Calibri" pitchFamily="34" charset="0"/>
                <a:ea typeface="Calibri" pitchFamily="34" charset="-122"/>
                <a:cs typeface="Calibri" pitchFamily="34" charset="-120"/>
              </a:rPr>
              <a:t>Marcelo Carrera · UTE    ·    Segundo Benítez · UTPL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2026-10-11T14:14:14Z</dcterms:created>
  <dcterms:modified xsi:type="dcterms:W3CDTF">2026-10-11T14:14:14Z</dcterms:modified>
</cp:coreProperties>
</file>